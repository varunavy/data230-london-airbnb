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Times New Roman MT Bold" charset="1" panose="02030802070405020303"/>
      <p:regular r:id="rId24"/>
    </p:embeddedFont>
    <p:embeddedFont>
      <p:font typeface="Glacial Indifference Bold" charset="1" panose="00000800000000000000"/>
      <p:regular r:id="rId25"/>
    </p:embeddedFont>
    <p:embeddedFont>
      <p:font typeface="Times New Roman Bold" charset="1" panose="02020803070505020304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gif" Type="http://schemas.openxmlformats.org/officeDocument/2006/relationships/image"/><Relationship Id="rId11" Target="../media/image10.gif" Type="http://schemas.openxmlformats.org/officeDocument/2006/relationships/image"/><Relationship Id="rId12" Target="../media/image11.gif" Type="http://schemas.openxmlformats.org/officeDocument/2006/relationships/image"/><Relationship Id="rId13" Target="../media/image12.gif" Type="http://schemas.openxmlformats.org/officeDocument/2006/relationships/image"/><Relationship Id="rId14" Target="../media/image13.gif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gif" Type="http://schemas.openxmlformats.org/officeDocument/2006/relationships/image"/><Relationship Id="rId7" Target="../media/image6.gif" Type="http://schemas.openxmlformats.org/officeDocument/2006/relationships/image"/><Relationship Id="rId8" Target="../media/image7.gif" Type="http://schemas.openxmlformats.org/officeDocument/2006/relationships/image"/><Relationship Id="rId9" Target="../media/image8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24.png" Type="http://schemas.openxmlformats.org/officeDocument/2006/relationships/image"/><Relationship Id="rId13" Target="../media/image25.png" Type="http://schemas.openxmlformats.org/officeDocument/2006/relationships/image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20.png" Type="http://schemas.openxmlformats.org/officeDocument/2006/relationships/image"/><Relationship Id="rId9" Target="../media/image21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7.png" Type="http://schemas.openxmlformats.org/officeDocument/2006/relationships/image"/><Relationship Id="rId5" Target="../media/image2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jpeg" Type="http://schemas.openxmlformats.org/officeDocument/2006/relationships/image"/><Relationship Id="rId3" Target="../media/image3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png" Type="http://schemas.openxmlformats.org/officeDocument/2006/relationships/image"/><Relationship Id="rId4" Target="../embeddings/oleObject1.bin" Type="http://schemas.openxmlformats.org/officeDocument/2006/relationships/oleObjec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png" Type="http://schemas.openxmlformats.org/officeDocument/2006/relationships/image"/><Relationship Id="rId4" Target="../embeddings/oleObject2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Relationship Id="rId3" Target="../media/image37.png" Type="http://schemas.openxmlformats.org/officeDocument/2006/relationships/image"/><Relationship Id="rId4" Target="../embeddings/oleObject3.bin" Type="http://schemas.openxmlformats.org/officeDocument/2006/relationships/oleObjec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embeddings/oleObject4.bin" Type="http://schemas.openxmlformats.org/officeDocument/2006/relationships/oleObjec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Relationship Id="rId4" Target="../embeddings/oleObject5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embeddings/oleObject6.bin" Type="http://schemas.openxmlformats.org/officeDocument/2006/relationships/oleObjec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png" Type="http://schemas.openxmlformats.org/officeDocument/2006/relationships/image"/><Relationship Id="rId4" Target="../embeddings/oleObject7.bin" Type="http://schemas.openxmlformats.org/officeDocument/2006/relationships/oleObjec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github.com/varunavy/data230-london-airbnb/tree/main" TargetMode="External" Type="http://schemas.openxmlformats.org/officeDocument/2006/relationships/hyperlink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6.png" Type="http://schemas.openxmlformats.org/officeDocument/2006/relationships/image"/><Relationship Id="rId3" Target="../embeddings/oleObject8.bin" Type="http://schemas.openxmlformats.org/officeDocument/2006/relationships/oleObjec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embeddings/oleObject9.bin" Type="http://schemas.openxmlformats.org/officeDocument/2006/relationships/oleObjec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5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36816">
            <a:off x="-174081" y="6419740"/>
            <a:ext cx="5078994" cy="4053960"/>
          </a:xfrm>
          <a:custGeom>
            <a:avLst/>
            <a:gdLst/>
            <a:ahLst/>
            <a:cxnLst/>
            <a:rect r="r" b="b" t="t" l="l"/>
            <a:pathLst>
              <a:path h="4053960" w="5078994">
                <a:moveTo>
                  <a:pt x="0" y="0"/>
                </a:moveTo>
                <a:lnTo>
                  <a:pt x="5078994" y="0"/>
                </a:lnTo>
                <a:lnTo>
                  <a:pt x="5078994" y="4053961"/>
                </a:lnTo>
                <a:lnTo>
                  <a:pt x="0" y="40539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480260">
            <a:off x="14345670" y="6158372"/>
            <a:ext cx="4615113" cy="4691889"/>
          </a:xfrm>
          <a:custGeom>
            <a:avLst/>
            <a:gdLst/>
            <a:ahLst/>
            <a:cxnLst/>
            <a:rect r="r" b="b" t="t" l="l"/>
            <a:pathLst>
              <a:path h="4691889" w="4615113">
                <a:moveTo>
                  <a:pt x="0" y="0"/>
                </a:moveTo>
                <a:lnTo>
                  <a:pt x="4615113" y="0"/>
                </a:lnTo>
                <a:lnTo>
                  <a:pt x="4615113" y="4691889"/>
                </a:lnTo>
                <a:lnTo>
                  <a:pt x="0" y="46918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-573357">
            <a:off x="4449285" y="5990655"/>
            <a:ext cx="2074054" cy="2670001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747434" y="1621099"/>
            <a:ext cx="2787983" cy="3644422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8"/>
          <a:srcRect l="0" t="0" r="0" b="0"/>
          <a:stretch>
            <a:fillRect/>
          </a:stretch>
        </p:blipFill>
        <p:spPr>
          <a:xfrm flipH="false" flipV="false" rot="0">
            <a:off x="658831" y="3443310"/>
            <a:ext cx="3583219" cy="7705419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9"/>
          <a:srcRect l="0" t="0" r="0" b="0"/>
          <a:stretch>
            <a:fillRect/>
          </a:stretch>
        </p:blipFill>
        <p:spPr>
          <a:xfrm flipH="false" flipV="false" rot="0">
            <a:off x="6730573" y="4866789"/>
            <a:ext cx="5134244" cy="5616466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10"/>
          <a:srcRect l="0" t="0" r="0" b="0"/>
          <a:stretch>
            <a:fillRect/>
          </a:stretch>
        </p:blipFill>
        <p:spPr>
          <a:xfrm flipH="false" flipV="false" rot="0">
            <a:off x="14441533" y="5825965"/>
            <a:ext cx="3509839" cy="4461035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11"/>
          <a:srcRect l="0" t="0" r="0" b="0"/>
          <a:stretch>
            <a:fillRect/>
          </a:stretch>
        </p:blipFill>
        <p:spPr>
          <a:xfrm flipH="true" flipV="false" rot="0">
            <a:off x="11149964" y="8119134"/>
            <a:ext cx="3887490" cy="2167866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2"/>
          <a:srcRect l="0" t="0" r="0" b="0"/>
          <a:stretch>
            <a:fillRect/>
          </a:stretch>
        </p:blipFill>
        <p:spPr>
          <a:xfrm flipH="true" flipV="false" rot="0">
            <a:off x="3261865" y="7796119"/>
            <a:ext cx="3794249" cy="2490881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3"/>
          <a:srcRect l="0" t="0" r="0" b="0"/>
          <a:stretch>
            <a:fillRect/>
          </a:stretch>
        </p:blipFill>
        <p:spPr>
          <a:xfrm flipH="false" flipV="false" rot="0">
            <a:off x="12347190" y="6756082"/>
            <a:ext cx="1025981" cy="1193001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4"/>
          <a:srcRect l="0" t="0" r="0" b="0"/>
          <a:stretch>
            <a:fillRect/>
          </a:stretch>
        </p:blipFill>
        <p:spPr>
          <a:xfrm flipH="false" flipV="false" rot="0">
            <a:off x="12266707" y="5722722"/>
            <a:ext cx="1774776" cy="157955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15163388" y="1621099"/>
            <a:ext cx="2787983" cy="3644422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1628111" y="548618"/>
            <a:ext cx="15031779" cy="2548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36"/>
              </a:lnSpc>
            </a:pPr>
            <a:r>
              <a:rPr lang="en-US" b="true" sz="13383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AIRBNB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56645" y="2778915"/>
            <a:ext cx="10574711" cy="64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4"/>
              </a:lnSpc>
            </a:pPr>
            <a:r>
              <a:rPr lang="en-US" sz="4306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DATA-230 SEC-11 DATA VISULIZATION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95028" y="3651749"/>
            <a:ext cx="4297943" cy="43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962" b="true">
                <a:solidFill>
                  <a:srgbClr val="23345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Presented by: GROUP 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27807" y="3179870"/>
            <a:ext cx="3927259" cy="3927259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19855" y="3471918"/>
            <a:ext cx="3343163" cy="3343163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6666" r="0" b="-16666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157260" y="8475459"/>
            <a:ext cx="18910300" cy="1947863"/>
            <a:chOff x="0" y="0"/>
            <a:chExt cx="4980491" cy="51301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980491" cy="513017"/>
            </a:xfrm>
            <a:custGeom>
              <a:avLst/>
              <a:gdLst/>
              <a:ahLst/>
              <a:cxnLst/>
              <a:rect r="r" b="b" t="t" l="l"/>
              <a:pathLst>
                <a:path h="513017" w="4980491">
                  <a:moveTo>
                    <a:pt x="0" y="0"/>
                  </a:moveTo>
                  <a:lnTo>
                    <a:pt x="4980491" y="0"/>
                  </a:lnTo>
                  <a:lnTo>
                    <a:pt x="4980491" y="513017"/>
                  </a:lnTo>
                  <a:lnTo>
                    <a:pt x="0" y="513017"/>
                  </a:ln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4980491" cy="522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14" y="8456409"/>
            <a:ext cx="20018646" cy="19050"/>
          </a:xfrm>
          <a:prstGeom prst="line">
            <a:avLst/>
          </a:prstGeom>
          <a:ln cap="flat" w="28575">
            <a:solidFill>
              <a:srgbClr val="D321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4833932" y="3179870"/>
            <a:ext cx="3927259" cy="392725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393928" y="3397058"/>
            <a:ext cx="3927259" cy="392725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932933" y="3425633"/>
            <a:ext cx="3927259" cy="392725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125980" y="3471918"/>
            <a:ext cx="3343163" cy="3343163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0483" t="0" r="-37293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685976" y="3689106"/>
            <a:ext cx="3343163" cy="3343163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16293" t="-9455" r="-27726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224981" y="3763966"/>
            <a:ext cx="3343163" cy="3343163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6666" r="0" b="-16666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890626" y="7657692"/>
            <a:ext cx="3001622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1"/>
              </a:lnSpc>
            </a:pPr>
            <a:r>
              <a:rPr lang="en-US" b="true" sz="32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Priya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427807" y="7442668"/>
            <a:ext cx="625753" cy="2844332"/>
          </a:xfrm>
          <a:custGeom>
            <a:avLst/>
            <a:gdLst/>
            <a:ahLst/>
            <a:cxnLst/>
            <a:rect r="r" b="b" t="t" l="l"/>
            <a:pathLst>
              <a:path h="2844332" w="625753">
                <a:moveTo>
                  <a:pt x="0" y="0"/>
                </a:moveTo>
                <a:lnTo>
                  <a:pt x="625753" y="0"/>
                </a:lnTo>
                <a:lnTo>
                  <a:pt x="625753" y="2844332"/>
                </a:lnTo>
                <a:lnTo>
                  <a:pt x="0" y="28443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3292239" y="7898217"/>
            <a:ext cx="2298045" cy="2393796"/>
          </a:xfrm>
          <a:custGeom>
            <a:avLst/>
            <a:gdLst/>
            <a:ahLst/>
            <a:cxnLst/>
            <a:rect r="r" b="b" t="t" l="l"/>
            <a:pathLst>
              <a:path h="2393796" w="2298045">
                <a:moveTo>
                  <a:pt x="0" y="0"/>
                </a:moveTo>
                <a:lnTo>
                  <a:pt x="2298045" y="0"/>
                </a:lnTo>
                <a:lnTo>
                  <a:pt x="2298045" y="2393796"/>
                </a:lnTo>
                <a:lnTo>
                  <a:pt x="0" y="239379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7828962" y="8790479"/>
            <a:ext cx="2630075" cy="1501534"/>
          </a:xfrm>
          <a:custGeom>
            <a:avLst/>
            <a:gdLst/>
            <a:ahLst/>
            <a:cxnLst/>
            <a:rect r="r" b="b" t="t" l="l"/>
            <a:pathLst>
              <a:path h="1501534" w="2630075">
                <a:moveTo>
                  <a:pt x="0" y="0"/>
                </a:moveTo>
                <a:lnTo>
                  <a:pt x="2630076" y="0"/>
                </a:lnTo>
                <a:lnTo>
                  <a:pt x="2630076" y="1501534"/>
                </a:lnTo>
                <a:lnTo>
                  <a:pt x="0" y="15015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2375144" y="8970668"/>
            <a:ext cx="3115579" cy="1316332"/>
          </a:xfrm>
          <a:custGeom>
            <a:avLst/>
            <a:gdLst/>
            <a:ahLst/>
            <a:cxnLst/>
            <a:rect r="r" b="b" t="t" l="l"/>
            <a:pathLst>
              <a:path h="1316332" w="3115579">
                <a:moveTo>
                  <a:pt x="0" y="0"/>
                </a:moveTo>
                <a:lnTo>
                  <a:pt x="3115579" y="0"/>
                </a:lnTo>
                <a:lnTo>
                  <a:pt x="3115579" y="1316332"/>
                </a:lnTo>
                <a:lnTo>
                  <a:pt x="0" y="131633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6827153" y="7821068"/>
            <a:ext cx="1033040" cy="2548094"/>
          </a:xfrm>
          <a:custGeom>
            <a:avLst/>
            <a:gdLst/>
            <a:ahLst/>
            <a:cxnLst/>
            <a:rect r="r" b="b" t="t" l="l"/>
            <a:pathLst>
              <a:path h="2548094" w="1033040">
                <a:moveTo>
                  <a:pt x="0" y="0"/>
                </a:moveTo>
                <a:lnTo>
                  <a:pt x="1033040" y="0"/>
                </a:lnTo>
                <a:lnTo>
                  <a:pt x="1033040" y="2548094"/>
                </a:lnTo>
                <a:lnTo>
                  <a:pt x="0" y="254809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685532" y="1364660"/>
            <a:ext cx="16916936" cy="1095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00"/>
              </a:lnSpc>
              <a:spcBef>
                <a:spcPct val="0"/>
              </a:spcBef>
            </a:pPr>
            <a:r>
              <a:rPr lang="en-US" b="true" sz="75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MEET </a:t>
            </a:r>
            <a:r>
              <a:rPr lang="en-US" b="true" sz="75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</a:t>
            </a:r>
            <a:r>
              <a:rPr lang="en-US" b="true" sz="7500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DATA CREW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150655" y="7657692"/>
            <a:ext cx="1293813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Varuna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654146" y="7657692"/>
            <a:ext cx="1406823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Sanjana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5436188" y="7657692"/>
            <a:ext cx="920750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Ngoc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99974" y="5143500"/>
            <a:ext cx="8888053" cy="3263218"/>
          </a:xfrm>
          <a:custGeom>
            <a:avLst/>
            <a:gdLst/>
            <a:ahLst/>
            <a:cxnLst/>
            <a:rect r="r" b="b" t="t" l="l"/>
            <a:pathLst>
              <a:path h="3263218" w="8888053">
                <a:moveTo>
                  <a:pt x="0" y="0"/>
                </a:moveTo>
                <a:lnTo>
                  <a:pt x="8888052" y="0"/>
                </a:lnTo>
                <a:lnTo>
                  <a:pt x="8888052" y="3263218"/>
                </a:lnTo>
                <a:lnTo>
                  <a:pt x="0" y="32632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803451" y="4473342"/>
            <a:ext cx="10681097" cy="5246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24"/>
              </a:lnSpc>
            </a:pPr>
            <a:r>
              <a:rPr lang="en-US" sz="346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And what can hosts learn from the listings that get it right?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75604" y="2479630"/>
            <a:ext cx="15936792" cy="1993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77"/>
              </a:lnSpc>
            </a:pPr>
            <a:r>
              <a:rPr lang="en-US" b="true" sz="7584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MAKES A LONDON AIRBNB TOP-RATED - 4.8+?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528459"/>
            <a:ext cx="3897904" cy="551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58"/>
              </a:lnSpc>
            </a:pPr>
            <a:r>
              <a:rPr lang="en-US" sz="3706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Research Question: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003675" y="8768155"/>
            <a:ext cx="10195917" cy="360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64"/>
              </a:lnSpc>
              <a:spcBef>
                <a:spcPct val="0"/>
              </a:spcBef>
            </a:pPr>
            <a:r>
              <a:rPr lang="en-US" b="true" sz="246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goal: Turn 70,708 listings into actionable insights for London Airbnb hosts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-1115124" y="4744625"/>
            <a:ext cx="20018646" cy="19050"/>
          </a:xfrm>
          <a:prstGeom prst="line">
            <a:avLst/>
          </a:prstGeom>
          <a:ln cap="flat" w="28575">
            <a:solidFill>
              <a:srgbClr val="23345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639833" y="1609759"/>
            <a:ext cx="15008335" cy="93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965"/>
              </a:lnSpc>
              <a:spcBef>
                <a:spcPct val="0"/>
              </a:spcBef>
            </a:pPr>
            <a:r>
              <a:rPr lang="en-US" b="true" sz="6484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ROADMAP TO THE ANSWER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269205" y="6382094"/>
            <a:ext cx="2301518" cy="1075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does </a:t>
            </a:r>
          </a:p>
          <a:p>
            <a:pPr algn="ctr">
              <a:lnSpc>
                <a:spcPts val="2671"/>
              </a:lnSpc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Airbnb look like?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269205" y="3659606"/>
            <a:ext cx="2170039" cy="217003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06640" y="432617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MARKET</a:t>
            </a:r>
          </a:p>
        </p:txBody>
      </p:sp>
      <p:sp>
        <p:nvSpPr>
          <p:cNvPr name="Freeform 9" id="9"/>
          <p:cNvSpPr/>
          <p:nvPr/>
        </p:nvSpPr>
        <p:spPr>
          <a:xfrm flipH="true" flipV="false" rot="0">
            <a:off x="16503033" y="4390943"/>
            <a:ext cx="1512534" cy="863519"/>
          </a:xfrm>
          <a:custGeom>
            <a:avLst/>
            <a:gdLst/>
            <a:ahLst/>
            <a:cxnLst/>
            <a:rect r="r" b="b" t="t" l="l"/>
            <a:pathLst>
              <a:path h="863519" w="1512534">
                <a:moveTo>
                  <a:pt x="1512534" y="0"/>
                </a:moveTo>
                <a:lnTo>
                  <a:pt x="0" y="0"/>
                </a:lnTo>
                <a:lnTo>
                  <a:pt x="0" y="863519"/>
                </a:lnTo>
                <a:lnTo>
                  <a:pt x="1512534" y="863519"/>
                </a:lnTo>
                <a:lnTo>
                  <a:pt x="151253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72822" y="3118232"/>
            <a:ext cx="1111755" cy="2045035"/>
          </a:xfrm>
          <a:custGeom>
            <a:avLst/>
            <a:gdLst/>
            <a:ahLst/>
            <a:cxnLst/>
            <a:rect r="r" b="b" t="t" l="l"/>
            <a:pathLst>
              <a:path h="2045035" w="1111755">
                <a:moveTo>
                  <a:pt x="0" y="0"/>
                </a:moveTo>
                <a:lnTo>
                  <a:pt x="1111756" y="0"/>
                </a:lnTo>
                <a:lnTo>
                  <a:pt x="1111756" y="2045035"/>
                </a:lnTo>
                <a:lnTo>
                  <a:pt x="0" y="20450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125044" y="3678656"/>
            <a:ext cx="2170039" cy="217003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058981" y="3678656"/>
            <a:ext cx="2170039" cy="217003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77384" y="3678656"/>
            <a:ext cx="2170039" cy="217003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822793" y="3659606"/>
            <a:ext cx="2170039" cy="2170039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5062479" y="434522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HOST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996416" y="4400468"/>
            <a:ext cx="2295168" cy="69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2479"/>
              </a:lnSpc>
              <a:spcBef>
                <a:spcPct val="0"/>
              </a:spcBef>
            </a:pPr>
            <a:r>
              <a:rPr lang="en-US" b="true" sz="2582" spc="214" strike="noStrike" u="none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LOCATION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914819" y="4306597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LISTING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760229" y="439094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ANSWER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25044" y="6382094"/>
            <a:ext cx="2301518" cy="1075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the host behind the listing matter?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058981" y="6382094"/>
            <a:ext cx="2301518" cy="1408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Where are highly rated listings concentrated?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989149" y="6382094"/>
            <a:ext cx="2301518" cy="1742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Which property and listing features move together with ratings?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691314" y="6382094"/>
            <a:ext cx="2301518" cy="7420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should a host focus on?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69205" y="923925"/>
            <a:ext cx="242629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Analysis journey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66419" y="1724025"/>
            <a:ext cx="16155162" cy="746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86"/>
              </a:lnSpc>
            </a:pPr>
            <a:r>
              <a:rPr lang="en-US" sz="5963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92,638 LISTINGS: WHAT EARNS A 4.8+?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66419" y="847725"/>
            <a:ext cx="4572000" cy="59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Dataset overview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88720" y="2880360"/>
            <a:ext cx="2286000" cy="2286000"/>
            <a:chOff x="0" y="0"/>
            <a:chExt cx="3048000" cy="3048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92,638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LISTINGS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2296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row = one listing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251960" y="2880360"/>
            <a:ext cx="2286000" cy="2286000"/>
            <a:chOff x="0" y="0"/>
            <a:chExt cx="3048000" cy="3048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90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COLUMNS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388620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Price, location, property, host, reviews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315200" y="2880360"/>
            <a:ext cx="2286000" cy="2286000"/>
            <a:chOff x="0" y="0"/>
            <a:chExt cx="3048000" cy="304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56%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TOP RATED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94944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of 70,708 guest-rated listings scored 4.8+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69848" y="6492240"/>
            <a:ext cx="3127248" cy="3154680"/>
            <a:chOff x="0" y="0"/>
            <a:chExt cx="4169664" cy="4206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6245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OUR TASK</a:t>
            </a: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Predict whether a listing is top rated (4.8+)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 hosts know what to improve first.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361688" y="6492240"/>
            <a:ext cx="3127248" cy="3154680"/>
            <a:chOff x="0" y="0"/>
            <a:chExt cx="4169664" cy="4206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465429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THIS DATASET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UCI Restaurant: 7,207 rows, too small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Open Food Facts: 2017, computed target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Airbnb London: 92,638 rows, 2026, guest ratings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53528" y="6492240"/>
            <a:ext cx="3127248" cy="3154680"/>
            <a:chOff x="0" y="0"/>
            <a:chExt cx="4169664" cy="4206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94613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IT'S MESSY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14 empty columns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Price stored as text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33% of prices missing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Hidden placeholders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24% of listings unrated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247120" y="2880360"/>
            <a:ext cx="5989320" cy="2103120"/>
            <a:chOff x="0" y="0"/>
            <a:chExt cx="7985760" cy="28041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9857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7985760">
                  <a:moveTo>
                    <a:pt x="0" y="224282"/>
                  </a:moveTo>
                  <a:cubicBezTo>
                    <a:pt x="0" y="100457"/>
                    <a:pt x="100457" y="0"/>
                    <a:pt x="224282" y="0"/>
                  </a:cubicBezTo>
                  <a:lnTo>
                    <a:pt x="7761478" y="0"/>
                  </a:lnTo>
                  <a:cubicBezTo>
                    <a:pt x="7885430" y="0"/>
                    <a:pt x="7985760" y="100457"/>
                    <a:pt x="7985760" y="224282"/>
                  </a:cubicBezTo>
                  <a:lnTo>
                    <a:pt x="7985760" y="2579878"/>
                  </a:lnTo>
                  <a:cubicBezTo>
                    <a:pt x="7985760" y="2703830"/>
                    <a:pt x="7885303" y="2804160"/>
                    <a:pt x="7761478" y="2804160"/>
                  </a:cubicBezTo>
                  <a:lnTo>
                    <a:pt x="224282" y="2804160"/>
                  </a:lnTo>
                  <a:cubicBezTo>
                    <a:pt x="100457" y="2804160"/>
                    <a:pt x="0" y="2703703"/>
                    <a:pt x="0" y="2579878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1539728" y="3110027"/>
            <a:ext cx="5404104" cy="1624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SOURCE</a:t>
            </a:r>
          </a:p>
          <a:p>
            <a:pPr algn="l">
              <a:lnSpc>
                <a:spcPts val="2639"/>
              </a:lnSpc>
            </a:pPr>
            <a:r>
              <a:rPr lang="en-US" sz="21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Inside Airbnb, London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Snapshot 19 June 2026 · listings.csv.gz · prices in GBP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insideairbnb.com/get-the-data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247120" y="5166360"/>
            <a:ext cx="5989320" cy="4480560"/>
            <a:chOff x="0" y="0"/>
            <a:chExt cx="7985760" cy="59740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985760" cy="5974080"/>
            </a:xfrm>
            <a:custGeom>
              <a:avLst/>
              <a:gdLst/>
              <a:ahLst/>
              <a:cxnLst/>
              <a:rect r="r" b="b" t="t" l="l"/>
              <a:pathLst>
                <a:path h="5974080" w="7985760">
                  <a:moveTo>
                    <a:pt x="0" y="477901"/>
                  </a:moveTo>
                  <a:cubicBezTo>
                    <a:pt x="0" y="213995"/>
                    <a:pt x="213995" y="0"/>
                    <a:pt x="477901" y="0"/>
                  </a:cubicBezTo>
                  <a:lnTo>
                    <a:pt x="7507859" y="0"/>
                  </a:lnTo>
                  <a:cubicBezTo>
                    <a:pt x="7771765" y="0"/>
                    <a:pt x="7985760" y="213995"/>
                    <a:pt x="7985760" y="477901"/>
                  </a:cubicBezTo>
                  <a:lnTo>
                    <a:pt x="7985760" y="5496179"/>
                  </a:lnTo>
                  <a:cubicBezTo>
                    <a:pt x="7985760" y="5760085"/>
                    <a:pt x="7771765" y="5974080"/>
                    <a:pt x="7507859" y="5974080"/>
                  </a:cubicBezTo>
                  <a:lnTo>
                    <a:pt x="477901" y="5974080"/>
                  </a:lnTo>
                  <a:cubicBezTo>
                    <a:pt x="213995" y="5974080"/>
                    <a:pt x="0" y="5760085"/>
                    <a:pt x="0" y="549617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1539728" y="5396027"/>
            <a:ext cx="5404104" cy="4002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RAW RECORDS: 3 EXAMPLE ROWS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1539728" y="5897880"/>
            <a:ext cx="5404104" cy="2378726"/>
            <a:chOff x="0" y="0"/>
            <a:chExt cx="7205472" cy="3171634"/>
          </a:xfrm>
        </p:grpSpPr>
        <p:sp>
          <p:nvSpPr>
            <p:cNvPr name="Freeform 32" id="32" descr="table_crop.png"/>
            <p:cNvSpPr/>
            <p:nvPr/>
          </p:nvSpPr>
          <p:spPr>
            <a:xfrm flipH="false" flipV="false" rot="0">
              <a:off x="0" y="0"/>
              <a:ext cx="7205472" cy="3171698"/>
            </a:xfrm>
            <a:custGeom>
              <a:avLst/>
              <a:gdLst/>
              <a:ahLst/>
              <a:cxnLst/>
              <a:rect r="r" b="b" t="t" l="l"/>
              <a:pathLst>
                <a:path h="3171698" w="7205472">
                  <a:moveTo>
                    <a:pt x="0" y="0"/>
                  </a:moveTo>
                  <a:lnTo>
                    <a:pt x="7205472" y="0"/>
                  </a:lnTo>
                  <a:lnTo>
                    <a:pt x="7205472" y="3171698"/>
                  </a:lnTo>
                  <a:lnTo>
                    <a:pt x="0" y="31716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2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62025"/>
            <a:ext cx="2240280" cy="481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cleaning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799641"/>
            <a:ext cx="13718381" cy="78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86"/>
              </a:lnSpc>
            </a:pPr>
            <a:r>
              <a:rPr lang="en-US" sz="5963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 DECISIONS, EACH WITH A REASON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468880" y="3611880"/>
            <a:ext cx="14538960" cy="54864"/>
            <a:chOff x="0" y="0"/>
            <a:chExt cx="19385280" cy="7315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385280" cy="73152"/>
            </a:xfrm>
            <a:custGeom>
              <a:avLst/>
              <a:gdLst/>
              <a:ahLst/>
              <a:cxnLst/>
              <a:rect r="r" b="b" t="t" l="l"/>
              <a:pathLst>
                <a:path h="73152" w="19385280">
                  <a:moveTo>
                    <a:pt x="0" y="0"/>
                  </a:moveTo>
                  <a:lnTo>
                    <a:pt x="19385280" y="0"/>
                  </a:lnTo>
                  <a:lnTo>
                    <a:pt x="19385280" y="73152"/>
                  </a:lnTo>
                  <a:lnTo>
                    <a:pt x="0" y="73152"/>
                  </a:lnTo>
                  <a:close/>
                </a:path>
              </a:pathLst>
            </a:custGeom>
            <a:solidFill>
              <a:srgbClr val="23345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24128" y="4645152"/>
            <a:ext cx="1417320" cy="658368"/>
            <a:chOff x="0" y="0"/>
            <a:chExt cx="18897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ISSUE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4128" y="5294376"/>
            <a:ext cx="16212312" cy="13716"/>
            <a:chOff x="0" y="0"/>
            <a:chExt cx="21616416" cy="182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24128" y="5303520"/>
            <a:ext cx="1417320" cy="658368"/>
            <a:chOff x="0" y="0"/>
            <a:chExt cx="1889760" cy="87782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DECISION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4128" y="5952744"/>
            <a:ext cx="16212312" cy="13716"/>
            <a:chOff x="0" y="0"/>
            <a:chExt cx="21616416" cy="1828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24128" y="5961888"/>
            <a:ext cx="1417320" cy="658368"/>
            <a:chOff x="0" y="0"/>
            <a:chExt cx="1889760" cy="87782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BECAUSE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24128" y="6611112"/>
            <a:ext cx="16212312" cy="13716"/>
            <a:chOff x="0" y="0"/>
            <a:chExt cx="21616416" cy="1828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3383280" y="2697480"/>
            <a:ext cx="1828800" cy="1828800"/>
            <a:chOff x="0" y="0"/>
            <a:chExt cx="2438400" cy="2438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DROP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514600" y="4645152"/>
            <a:ext cx="3566160" cy="658368"/>
            <a:chOff x="0" y="0"/>
            <a:chExt cx="4754880" cy="87782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14 columns 100% empty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514600" y="5303520"/>
            <a:ext cx="3566160" cy="658368"/>
            <a:chOff x="0" y="0"/>
            <a:chExt cx="4754880" cy="87782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Dropped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2514600" y="5961888"/>
            <a:ext cx="3566160" cy="658368"/>
            <a:chOff x="0" y="0"/>
            <a:chExt cx="4754880" cy="87782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No values in this snapshot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7040880" y="2697480"/>
            <a:ext cx="1828800" cy="1828800"/>
            <a:chOff x="0" y="0"/>
            <a:chExt cx="2438400" cy="2438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CONVERT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172200" y="4645152"/>
            <a:ext cx="3566160" cy="658368"/>
            <a:chOff x="0" y="0"/>
            <a:chExt cx="4754880" cy="87782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Price stored as text ("$127.00")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172200" y="5303520"/>
            <a:ext cx="3566160" cy="658368"/>
            <a:chOff x="0" y="0"/>
            <a:chExt cx="4754880" cy="87782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Converted to a number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6172200" y="5961888"/>
            <a:ext cx="3566160" cy="658368"/>
            <a:chOff x="0" y="0"/>
            <a:chExt cx="4754880" cy="87782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Text cannot be charted or modelled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698480" y="2697480"/>
            <a:ext cx="1828800" cy="1828800"/>
            <a:chOff x="0" y="0"/>
            <a:chExt cx="2438400" cy="24384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CAP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829800" y="4645152"/>
            <a:ext cx="3566160" cy="658368"/>
            <a:chOff x="0" y="0"/>
            <a:chExt cx="4754880" cy="87782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£527,524 price; rating 0; 2,147,483,647 nights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829800" y="5303520"/>
            <a:ext cx="3566160" cy="658368"/>
            <a:chOff x="0" y="0"/>
            <a:chExt cx="4754880" cy="87782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Capped at £1,373 (new column); placeholders → missing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829800" y="5961888"/>
            <a:ext cx="3566160" cy="658368"/>
            <a:chOff x="0" y="0"/>
            <a:chExt cx="4754880" cy="87782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Entry errors and placeholders, not real values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4356080" y="2697480"/>
            <a:ext cx="1828800" cy="1828800"/>
            <a:chOff x="0" y="0"/>
            <a:chExt cx="2438400" cy="24384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FILL + FLAG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487400" y="4645152"/>
            <a:ext cx="3566160" cy="658368"/>
            <a:chOff x="0" y="0"/>
            <a:chExt cx="4754880" cy="87782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Missing price, beds, bedrooms, bathrooms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3487400" y="5303520"/>
            <a:ext cx="3566160" cy="658368"/>
            <a:chOff x="0" y="0"/>
            <a:chExt cx="4754880" cy="87782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Room-type median + "missing" flag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487400" y="5961888"/>
            <a:ext cx="3566160" cy="658368"/>
            <a:chOff x="0" y="0"/>
            <a:chExt cx="4754880" cy="87782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Skewed values; missingness linked to rating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024128" y="6784848"/>
            <a:ext cx="10607040" cy="3108960"/>
            <a:chOff x="0" y="0"/>
            <a:chExt cx="14142720" cy="414528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4142720" cy="4145280"/>
            </a:xfrm>
            <a:custGeom>
              <a:avLst/>
              <a:gdLst/>
              <a:ahLst/>
              <a:cxnLst/>
              <a:rect r="r" b="b" t="t" l="l"/>
              <a:pathLst>
                <a:path h="4145280" w="14142720">
                  <a:moveTo>
                    <a:pt x="0" y="331597"/>
                  </a:moveTo>
                  <a:cubicBezTo>
                    <a:pt x="0" y="148463"/>
                    <a:pt x="148463" y="0"/>
                    <a:pt x="331597" y="0"/>
                  </a:cubicBezTo>
                  <a:lnTo>
                    <a:pt x="13811123" y="0"/>
                  </a:lnTo>
                  <a:cubicBezTo>
                    <a:pt x="13994257" y="0"/>
                    <a:pt x="14142720" y="148463"/>
                    <a:pt x="14142720" y="331597"/>
                  </a:cubicBezTo>
                  <a:lnTo>
                    <a:pt x="14142720" y="3813683"/>
                  </a:lnTo>
                  <a:cubicBezTo>
                    <a:pt x="14142720" y="3996817"/>
                    <a:pt x="13994257" y="4145280"/>
                    <a:pt x="13811123" y="4145280"/>
                  </a:cubicBezTo>
                  <a:lnTo>
                    <a:pt x="331597" y="4145280"/>
                  </a:lnTo>
                  <a:cubicBezTo>
                    <a:pt x="148463" y="4145280"/>
                    <a:pt x="0" y="3996817"/>
                    <a:pt x="0" y="381368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71" id="71"/>
          <p:cNvSpPr txBox="true"/>
          <p:nvPr/>
        </p:nvSpPr>
        <p:spPr>
          <a:xfrm rot="0">
            <a:off x="1225296" y="6936791"/>
            <a:ext cx="10204704" cy="2786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BEFORE AND AFTER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1887200" y="6784848"/>
            <a:ext cx="5349240" cy="1481328"/>
            <a:chOff x="0" y="0"/>
            <a:chExt cx="7132320" cy="1975104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132320" cy="1975104"/>
            </a:xfrm>
            <a:custGeom>
              <a:avLst/>
              <a:gdLst/>
              <a:ahLst/>
              <a:cxnLst/>
              <a:rect r="r" b="b" t="t" l="l"/>
              <a:pathLst>
                <a:path h="1975104" w="7132320">
                  <a:moveTo>
                    <a:pt x="0" y="157988"/>
                  </a:moveTo>
                  <a:cubicBezTo>
                    <a:pt x="0" y="70739"/>
                    <a:pt x="70739" y="0"/>
                    <a:pt x="157988" y="0"/>
                  </a:cubicBezTo>
                  <a:lnTo>
                    <a:pt x="6974332" y="0"/>
                  </a:lnTo>
                  <a:cubicBezTo>
                    <a:pt x="7061581" y="0"/>
                    <a:pt x="7132320" y="70739"/>
                    <a:pt x="7132320" y="157988"/>
                  </a:cubicBezTo>
                  <a:lnTo>
                    <a:pt x="7132320" y="1817116"/>
                  </a:lnTo>
                  <a:cubicBezTo>
                    <a:pt x="7132320" y="1904365"/>
                    <a:pt x="7061581" y="1975104"/>
                    <a:pt x="6974332" y="1975104"/>
                  </a:cubicBezTo>
                  <a:lnTo>
                    <a:pt x="157988" y="1975104"/>
                  </a:lnTo>
                  <a:cubicBezTo>
                    <a:pt x="70739" y="1975104"/>
                    <a:pt x="0" y="1904365"/>
                    <a:pt x="0" y="1817116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</p:grpSp>
      <p:sp>
        <p:nvSpPr>
          <p:cNvPr name="TextBox 74" id="74"/>
          <p:cNvSpPr txBox="true"/>
          <p:nvPr/>
        </p:nvSpPr>
        <p:spPr>
          <a:xfrm rot="0">
            <a:off x="12070080" y="6921246"/>
            <a:ext cx="4983480" cy="1189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OUTLIER  £527,524</a:t>
            </a:r>
          </a:p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night, an entry error. 623 prices capped; no rated listing deleted.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11887200" y="8412480"/>
            <a:ext cx="5349240" cy="1481328"/>
            <a:chOff x="0" y="0"/>
            <a:chExt cx="7132320" cy="197510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132320" cy="1975104"/>
            </a:xfrm>
            <a:custGeom>
              <a:avLst/>
              <a:gdLst/>
              <a:ahLst/>
              <a:cxnLst/>
              <a:rect r="r" b="b" t="t" l="l"/>
              <a:pathLst>
                <a:path h="1975104" w="7132320">
                  <a:moveTo>
                    <a:pt x="0" y="157988"/>
                  </a:moveTo>
                  <a:cubicBezTo>
                    <a:pt x="0" y="70739"/>
                    <a:pt x="70739" y="0"/>
                    <a:pt x="157988" y="0"/>
                  </a:cubicBezTo>
                  <a:lnTo>
                    <a:pt x="6974332" y="0"/>
                  </a:lnTo>
                  <a:cubicBezTo>
                    <a:pt x="7061581" y="0"/>
                    <a:pt x="7132320" y="70739"/>
                    <a:pt x="7132320" y="157988"/>
                  </a:cubicBezTo>
                  <a:lnTo>
                    <a:pt x="7132320" y="1817116"/>
                  </a:lnTo>
                  <a:cubicBezTo>
                    <a:pt x="7132320" y="1904365"/>
                    <a:pt x="7061581" y="1975104"/>
                    <a:pt x="6974332" y="1975104"/>
                  </a:cubicBezTo>
                  <a:lnTo>
                    <a:pt x="157988" y="1975104"/>
                  </a:lnTo>
                  <a:cubicBezTo>
                    <a:pt x="70739" y="1975104"/>
                    <a:pt x="0" y="1904365"/>
                    <a:pt x="0" y="1817116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</p:grpSp>
      <p:sp>
        <p:nvSpPr>
          <p:cNvPr name="TextBox 77" id="77"/>
          <p:cNvSpPr txBox="true"/>
          <p:nvPr/>
        </p:nvSpPr>
        <p:spPr>
          <a:xfrm rot="0">
            <a:off x="12070080" y="8548878"/>
            <a:ext cx="4983480" cy="1189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CHALLENGE</a:t>
            </a:r>
          </a:p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33% of prices missing; 87% of those can't be booked: a pattern, not random.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 92,635 × 80 · 7/7 checks pass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2935996" y="7178040"/>
            <a:ext cx="6783305" cy="2606040"/>
            <a:chOff x="0" y="0"/>
            <a:chExt cx="9044407" cy="3474720"/>
          </a:xfrm>
        </p:grpSpPr>
        <p:sp>
          <p:nvSpPr>
            <p:cNvPr name="Freeform 79" id="79" descr="fig_crop.png"/>
            <p:cNvSpPr/>
            <p:nvPr/>
          </p:nvSpPr>
          <p:spPr>
            <a:xfrm flipH="false" flipV="false" rot="0">
              <a:off x="0" y="0"/>
              <a:ext cx="9044432" cy="3474720"/>
            </a:xfrm>
            <a:custGeom>
              <a:avLst/>
              <a:gdLst/>
              <a:ahLst/>
              <a:cxnLst/>
              <a:rect r="r" b="b" t="t" l="l"/>
              <a:pathLst>
                <a:path h="3474720" w="9044432">
                  <a:moveTo>
                    <a:pt x="0" y="0"/>
                  </a:moveTo>
                  <a:lnTo>
                    <a:pt x="9044432" y="0"/>
                  </a:lnTo>
                  <a:lnTo>
                    <a:pt x="9044432" y="3474720"/>
                  </a:lnTo>
                  <a:lnTo>
                    <a:pt x="0" y="3474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575529"/>
            <a:ext cx="9374914" cy="3058566"/>
          </a:xfrm>
          <a:custGeom>
            <a:avLst/>
            <a:gdLst/>
            <a:ahLst/>
            <a:cxnLst/>
            <a:rect r="r" b="b" t="t" l="l"/>
            <a:pathLst>
              <a:path h="3058566" w="9374914">
                <a:moveTo>
                  <a:pt x="0" y="0"/>
                </a:moveTo>
                <a:lnTo>
                  <a:pt x="9374914" y="0"/>
                </a:lnTo>
                <a:lnTo>
                  <a:pt x="9374914" y="3058566"/>
                </a:lnTo>
                <a:lnTo>
                  <a:pt x="0" y="30585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0858500" y="2695575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0" y="923925"/>
            <a:ext cx="704026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Univari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 : Host Profile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91426"/>
            <a:ext cx="14577616" cy="859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86"/>
              </a:lnSpc>
              <a:spcBef>
                <a:spcPct val="0"/>
              </a:spcBef>
            </a:pPr>
            <a:r>
              <a:rPr lang="en-US" b="true" sz="59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WHO IS BEHIND</a:t>
            </a:r>
            <a:r>
              <a:rPr lang="en-US" b="true" sz="59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LONDON'S AIRBNBS?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5812140"/>
            <a:ext cx="9374914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London’s host landscape is diverse: from single-listing hosts to large-scale operators.</a:t>
            </a:r>
          </a:p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This makes portfolio size + host tenure worth testing against ratings.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713122"/>
            <a:ext cx="9733634" cy="3516275"/>
          </a:xfrm>
          <a:custGeom>
            <a:avLst/>
            <a:gdLst/>
            <a:ahLst/>
            <a:cxnLst/>
            <a:rect r="r" b="b" t="t" l="l"/>
            <a:pathLst>
              <a:path h="3516275" w="9733634">
                <a:moveTo>
                  <a:pt x="0" y="0"/>
                </a:moveTo>
                <a:lnTo>
                  <a:pt x="9733634" y="0"/>
                </a:lnTo>
                <a:lnTo>
                  <a:pt x="9733634" y="3516275"/>
                </a:lnTo>
                <a:lnTo>
                  <a:pt x="0" y="35162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9525" cap="sq">
            <a:solidFill>
              <a:srgbClr val="655F68"/>
            </a:solidFill>
            <a:prstDash val="solid"/>
            <a:miter/>
          </a:ln>
        </p:spPr>
      </p:sp>
      <p:graphicFrame>
        <p:nvGraphicFramePr>
          <p:cNvPr name="Object 3" id="3"/>
          <p:cNvGraphicFramePr/>
          <p:nvPr/>
        </p:nvGraphicFramePr>
        <p:xfrm>
          <a:off x="11068050" y="2351172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923925"/>
            <a:ext cx="578296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Univari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Listing Amenities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91426"/>
            <a:ext cx="14577616" cy="859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486"/>
              </a:lnSpc>
              <a:spcBef>
                <a:spcPct val="0"/>
              </a:spcBef>
            </a:pPr>
            <a:r>
              <a:rPr lang="en-US" b="true" sz="59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</a:t>
            </a:r>
            <a:r>
              <a:rPr lang="en-US" b="true" sz="59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DO LONDON AIRBNBS OFFER?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6795324"/>
            <a:ext cx="9733634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listings vary substantially in amenity count, while basic amenities are nearly universal.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Amenity quantity and differentiating amenities move forward to rating analysis.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64436" y="2318592"/>
            <a:ext cx="10516769" cy="4081821"/>
          </a:xfrm>
          <a:custGeom>
            <a:avLst/>
            <a:gdLst/>
            <a:ahLst/>
            <a:cxnLst/>
            <a:rect r="r" b="b" t="t" l="l"/>
            <a:pathLst>
              <a:path h="4081821" w="10516769">
                <a:moveTo>
                  <a:pt x="0" y="0"/>
                </a:moveTo>
                <a:lnTo>
                  <a:pt x="10516769" y="0"/>
                </a:lnTo>
                <a:lnTo>
                  <a:pt x="10516769" y="4081820"/>
                </a:lnTo>
                <a:lnTo>
                  <a:pt x="0" y="40818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1734800" y="2318592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923925"/>
            <a:ext cx="4731346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Host Profile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72376"/>
            <a:ext cx="16699756" cy="631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14"/>
              </a:lnSpc>
              <a:spcBef>
                <a:spcPct val="0"/>
              </a:spcBef>
            </a:pPr>
            <a:r>
              <a:rPr lang="en-US" b="true" sz="43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HOSTING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MORE LISTINGS MEAN BETTER 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RATINGS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281099"/>
            <a:ext cx="10262791" cy="1491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Single-listing hosts show a 22.2 percentage-point higher top-rated rate.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 type </a:t>
            </a: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 our strongest categorical bivariate signal.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78310" y="2103777"/>
            <a:ext cx="5814295" cy="7547303"/>
          </a:xfrm>
          <a:custGeom>
            <a:avLst/>
            <a:gdLst/>
            <a:ahLst/>
            <a:cxnLst/>
            <a:rect r="r" b="b" t="t" l="l"/>
            <a:pathLst>
              <a:path h="7547303" w="5814295">
                <a:moveTo>
                  <a:pt x="0" y="0"/>
                </a:moveTo>
                <a:lnTo>
                  <a:pt x="5814294" y="0"/>
                </a:lnTo>
                <a:lnTo>
                  <a:pt x="5814294" y="7547304"/>
                </a:lnTo>
                <a:lnTo>
                  <a:pt x="0" y="75473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327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8286750" y="2408577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135410" y="923925"/>
            <a:ext cx="2654896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35410" y="1472376"/>
            <a:ext cx="16123890" cy="631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14"/>
              </a:lnSpc>
              <a:spcBef>
                <a:spcPct val="0"/>
              </a:spcBef>
            </a:pP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LOCATION INFLUENCE THE GUEST EXPERIENCE?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86750" y="7281099"/>
            <a:ext cx="8972550" cy="197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Top-rated performance varies widely across London boroughs.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Location matters, but host type remains the stronger signal.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82055" y="2178707"/>
            <a:ext cx="10039896" cy="5137315"/>
          </a:xfrm>
          <a:custGeom>
            <a:avLst/>
            <a:gdLst/>
            <a:ahLst/>
            <a:cxnLst/>
            <a:rect r="r" b="b" t="t" l="l"/>
            <a:pathLst>
              <a:path h="5137315" w="10039896">
                <a:moveTo>
                  <a:pt x="0" y="0"/>
                </a:moveTo>
                <a:lnTo>
                  <a:pt x="10039896" y="0"/>
                </a:lnTo>
                <a:lnTo>
                  <a:pt x="10039896" y="5137315"/>
                </a:lnTo>
                <a:lnTo>
                  <a:pt x="0" y="5137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1391900" y="2178707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82055" y="923925"/>
            <a:ext cx="2654896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2055" y="1481901"/>
            <a:ext cx="16123890" cy="696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4"/>
              </a:lnSpc>
              <a:spcBef>
                <a:spcPct val="0"/>
              </a:spcBef>
            </a:pPr>
            <a:r>
              <a:rPr lang="en-US" b="true" sz="48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WHICH LISTI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NG FEATURES MOVE WITH RATIN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GS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2055" y="7450550"/>
            <a:ext cx="10039896" cy="197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Amenity-rich listings (43+) show the highest top-rated rate at 65.7%. Amenities matter, but their signal is weaker than host type and location.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62025"/>
            <a:ext cx="9144000" cy="59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Multivariate overview: Combined Signals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451808"/>
            <a:ext cx="16123891" cy="710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66"/>
              </a:lnSpc>
            </a:pPr>
            <a:r>
              <a:rPr lang="en-US" sz="4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WHAT HAPPENS WHEN WE CONNECT THE SIGNALS?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8700" y="2465193"/>
            <a:ext cx="10393348" cy="4131888"/>
            <a:chOff x="0" y="0"/>
            <a:chExt cx="14142720" cy="5622455"/>
          </a:xfrm>
        </p:grpSpPr>
        <p:sp>
          <p:nvSpPr>
            <p:cNvPr name="Freeform 5" id="5" descr="c15_2.png"/>
            <p:cNvSpPr/>
            <p:nvPr/>
          </p:nvSpPr>
          <p:spPr>
            <a:xfrm flipH="false" flipV="false" rot="0">
              <a:off x="0" y="0"/>
              <a:ext cx="14142720" cy="5622417"/>
            </a:xfrm>
            <a:custGeom>
              <a:avLst/>
              <a:gdLst/>
              <a:ahLst/>
              <a:cxnLst/>
              <a:rect r="r" b="b" t="t" l="l"/>
              <a:pathLst>
                <a:path h="5622417" w="14142720">
                  <a:moveTo>
                    <a:pt x="0" y="0"/>
                  </a:moveTo>
                  <a:lnTo>
                    <a:pt x="14142720" y="0"/>
                  </a:lnTo>
                  <a:lnTo>
                    <a:pt x="14142720" y="5622417"/>
                  </a:lnTo>
                  <a:lnTo>
                    <a:pt x="0" y="5622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6795324"/>
            <a:ext cx="10393348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No single feature predicts a top rating (none above ρ = 0.28), but together they reach AUC 0.770.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 profile matters most, while amenities are the strongest factor hosts can change.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11529031" y="2162175"/>
          <a:ext cx="5730269" cy="7098632"/>
        </p:xfrm>
        <a:graphic>
          <a:graphicData uri="http://schemas.openxmlformats.org/drawingml/2006/table">
            <a:tbl>
              <a:tblPr/>
              <a:tblGrid>
                <a:gridCol w="3230896"/>
                <a:gridCol w="2499372"/>
              </a:tblGrid>
              <a:tr h="843129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D32128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OBSERVATION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D32128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DECISION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87191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Host profile has the largest grouped importance (0.084)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Keep host profile as key context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1046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Amenities lead host-controllable factors (0.060)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Prioritize amenities in host recommendations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07266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Host-type gap persists in 32 of 33 boroughs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Keep host type + location together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2466975"/>
          <a:ext cx="5657850" cy="3143250"/>
        </p:xfrm>
        <a:graphic>
          <a:graphicData uri="http://schemas.openxmlformats.org/presentationml/2006/ole">
            <p:oleObj imgW="6781800" imgH="42672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923925"/>
            <a:ext cx="2418457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min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ar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y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481901"/>
            <a:ext cx="16230600" cy="833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302"/>
              </a:lnSpc>
              <a:spcBef>
                <a:spcPct val="0"/>
              </a:spcBef>
            </a:pP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CAN WE PREDICT WHAT DRIVES SUCCESS?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6405434"/>
            <a:ext cx="16230600" cy="285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55"/>
              </a:lnSpc>
              <a:spcBef>
                <a:spcPct val="0"/>
              </a:spcBef>
            </a:pPr>
            <a:r>
              <a:rPr lang="en-US" b="true" sz="31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MODELING DECISION</a:t>
            </a:r>
          </a:p>
          <a:p>
            <a:pPr algn="l">
              <a:lnSpc>
                <a:spcPts val="4455"/>
              </a:lnSpc>
              <a:spcBef>
                <a:spcPct val="0"/>
              </a:spcBef>
            </a:pPr>
            <a:r>
              <a:rPr lang="en-US" b="true" sz="31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70/15/15 stratified split | Prevent target leakage | Compare performance + interpretability</a:t>
            </a:r>
          </a:p>
          <a:p>
            <a:pPr algn="l">
              <a:lnSpc>
                <a:spcPts val="4455"/>
              </a:lnSpc>
              <a:spcBef>
                <a:spcPct val="0"/>
              </a:spcBef>
            </a:pPr>
          </a:p>
          <a:p>
            <a:pPr algn="l">
              <a:lnSpc>
                <a:spcPts val="4455"/>
              </a:lnSpc>
              <a:spcBef>
                <a:spcPct val="0"/>
              </a:spcBef>
            </a:pPr>
            <a:r>
              <a:rPr lang="en-US" b="true" sz="31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>
              <a:lnSpc>
                <a:spcPts val="4455"/>
              </a:lnSpc>
              <a:spcBef>
                <a:spcPct val="0"/>
              </a:spcBef>
            </a:pPr>
            <a:r>
              <a:rPr lang="en-US" b="true" sz="31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EDA identified the signals - ML tests how well they predict top-rated status together.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14838"/>
            <a:ext cx="10652595" cy="5745744"/>
          </a:xfrm>
          <a:custGeom>
            <a:avLst/>
            <a:gdLst/>
            <a:ahLst/>
            <a:cxnLst/>
            <a:rect r="r" b="b" t="t" l="l"/>
            <a:pathLst>
              <a:path h="5745744" w="10652595">
                <a:moveTo>
                  <a:pt x="0" y="0"/>
                </a:moveTo>
                <a:lnTo>
                  <a:pt x="10652595" y="0"/>
                </a:lnTo>
                <a:lnTo>
                  <a:pt x="10652595" y="5745744"/>
                </a:lnTo>
                <a:lnTo>
                  <a:pt x="0" y="57457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2058650" y="1714838"/>
          <a:ext cx="3771900" cy="4400550"/>
        </p:xfrm>
        <a:graphic>
          <a:graphicData uri="http://schemas.openxmlformats.org/presentationml/2006/ole">
            <p:oleObj imgW="4648200" imgH="52705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19522" y="508824"/>
            <a:ext cx="2613521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PU vs RAPIDS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66800"/>
            <a:ext cx="16230600" cy="648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98"/>
              </a:lnSpc>
              <a:spcBef>
                <a:spcPct val="0"/>
              </a:spcBef>
            </a:pPr>
            <a:r>
              <a:rPr lang="en-US" b="true" sz="45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GPU ACCELERATION ACTUALLY HELP?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596282"/>
            <a:ext cx="10382250" cy="1695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5"/>
              </a:lnSpc>
              <a:spcBef>
                <a:spcPct val="0"/>
              </a:spcBef>
            </a:pPr>
            <a:r>
              <a:rPr lang="en-US" b="true" sz="18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DECISION</a:t>
            </a:r>
          </a:p>
          <a:p>
            <a:pPr algn="l">
              <a:lnSpc>
                <a:spcPts val="2635"/>
              </a:lnSpc>
              <a:spcBef>
                <a:spcPct val="0"/>
              </a:spcBef>
            </a:pPr>
            <a:r>
              <a:rPr lang="en-US" b="true" sz="18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Use RAPIDS for data loading and heavier aggregations; retain pandas for lightweight operations.</a:t>
            </a:r>
          </a:p>
          <a:p>
            <a:pPr algn="l">
              <a:lnSpc>
                <a:spcPts val="2635"/>
              </a:lnSpc>
              <a:spcBef>
                <a:spcPct val="0"/>
              </a:spcBef>
            </a:pPr>
            <a:r>
              <a:rPr lang="en-US" b="true" sz="18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>
              <a:lnSpc>
                <a:spcPts val="2635"/>
              </a:lnSpc>
              <a:spcBef>
                <a:spcPct val="0"/>
              </a:spcBef>
            </a:pPr>
            <a:r>
              <a:rPr lang="en-US" b="true" sz="18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GPU ≠ always faster. RAPIDS delivers the biggest gains on heavier workloads, while pandas remains competitive on smaller operations.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895350"/>
            <a:ext cx="16230600" cy="1626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5"/>
              </a:lnSpc>
            </a:pPr>
            <a:r>
              <a:rPr lang="en-US" sz="3382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CLICK TO REVIEW   |    </a:t>
            </a:r>
            <a:r>
              <a:rPr lang="en-US" b="true" sz="3382" u="sng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  <a:hlinkClick r:id="rId2" tooltip="https://github.com/varunavy/data230-london-airbnb/tree/main"/>
              </a:rPr>
              <a:t>GITHUB LINK</a:t>
            </a:r>
            <a:r>
              <a:rPr lang="en-US" sz="3382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 |  TABLEU DASHBOARD LINK </a:t>
            </a:r>
          </a:p>
          <a:p>
            <a:pPr algn="l">
              <a:lnSpc>
                <a:spcPts val="3895"/>
              </a:lnSpc>
            </a:pPr>
          </a:p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GITHUB CONTRIBUTIONS: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3270911"/>
          <a:ext cx="5657850" cy="1885950"/>
        </p:xfrm>
        <a:graphic>
          <a:graphicData uri="http://schemas.openxmlformats.org/presentationml/2006/ole">
            <p:oleObj imgW="6781800" imgH="30099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171575"/>
            <a:ext cx="2152849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Final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synthesis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959614"/>
            <a:ext cx="16230600" cy="833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302"/>
              </a:lnSpc>
              <a:spcBef>
                <a:spcPct val="0"/>
              </a:spcBef>
            </a:pPr>
            <a:r>
              <a:rPr lang="en-US" b="true" sz="57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SO,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WHAT MAKES A TOP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-RAT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ED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AIRBNB?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6750462"/>
            <a:ext cx="16230600" cy="1283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75"/>
              </a:lnSpc>
              <a:spcBef>
                <a:spcPct val="0"/>
              </a:spcBef>
            </a:pPr>
            <a:r>
              <a:rPr lang="en-US" b="true" sz="34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</a:t>
            </a:r>
            <a:r>
              <a:rPr lang="en-US" b="true" sz="34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op ratings are not driven by one feature. Host profile provides the strongest overall signal, while amenities are the strongest factor hosts can directly change.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3938" y="3521487"/>
          <a:ext cx="5657850" cy="1885950"/>
        </p:xfrm>
        <a:graphic>
          <a:graphicData uri="http://schemas.openxmlformats.org/presentationml/2006/ole">
            <p:oleObj imgW="6781800" imgH="30099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526926"/>
            <a:ext cx="2657376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Recommenda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3938" y="2084902"/>
            <a:ext cx="16230600" cy="833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302"/>
              </a:lnSpc>
              <a:spcBef>
                <a:spcPct val="0"/>
              </a:spcBef>
            </a:pPr>
            <a:r>
              <a:rPr lang="en-US" b="true" sz="57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HE HOST 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PLAY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OOK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39238" y="4559712"/>
            <a:ext cx="9525" cy="664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75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6381750"/>
            <a:ext cx="17259300" cy="1728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55"/>
              </a:lnSpc>
              <a:spcBef>
                <a:spcPct val="0"/>
              </a:spcBef>
            </a:pPr>
            <a:r>
              <a:rPr lang="en-US" b="true" sz="31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FINAL MESSAGE</a:t>
            </a:r>
          </a:p>
          <a:p>
            <a:pPr algn="l" marL="0" indent="0" lvl="0">
              <a:lnSpc>
                <a:spcPts val="4455"/>
              </a:lnSpc>
              <a:spcBef>
                <a:spcPct val="0"/>
              </a:spcBef>
            </a:pPr>
            <a:r>
              <a:rPr lang="en-US" b="true" sz="31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Hosts cannot change their location or history but they can improve how their listing competes within that context.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152200" y="940016"/>
            <a:ext cx="6706479" cy="5868169"/>
            <a:chOff x="0" y="0"/>
            <a:chExt cx="812800" cy="711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530371" y="0"/>
                  </a:moveTo>
                  <a:lnTo>
                    <a:pt x="282407" y="0"/>
                  </a:lnTo>
                  <a:cubicBezTo>
                    <a:pt x="126426" y="0"/>
                    <a:pt x="0" y="123512"/>
                    <a:pt x="0" y="275871"/>
                  </a:cubicBezTo>
                  <a:cubicBezTo>
                    <a:pt x="0" y="386169"/>
                    <a:pt x="66279" y="481310"/>
                    <a:pt x="162037" y="525451"/>
                  </a:cubicBezTo>
                  <a:lnTo>
                    <a:pt x="162037" y="711200"/>
                  </a:lnTo>
                  <a:lnTo>
                    <a:pt x="353844" y="551732"/>
                  </a:lnTo>
                  <a:lnTo>
                    <a:pt x="530371" y="551732"/>
                  </a:lnTo>
                  <a:cubicBezTo>
                    <a:pt x="686363" y="551732"/>
                    <a:pt x="812800" y="428220"/>
                    <a:pt x="812800" y="275861"/>
                  </a:cubicBezTo>
                  <a:cubicBezTo>
                    <a:pt x="812811" y="123512"/>
                    <a:pt x="686363" y="0"/>
                    <a:pt x="530371" y="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812800" cy="492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68028" y="1627636"/>
            <a:ext cx="6474823" cy="351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70,708 London Airbnbs</a:t>
            </a: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One question. One clear takeaway.</a:t>
            </a:r>
          </a:p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Top-rated success comes from a combination of context and choices, </a:t>
            </a:r>
          </a:p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amenities are the strongest lever hosts can directly control</a:t>
            </a:r>
          </a:p>
          <a:p>
            <a:pPr algn="ctr" marL="0" indent="0" lvl="0">
              <a:lnSpc>
                <a:spcPts val="2740"/>
              </a:lnSpc>
              <a:spcBef>
                <a:spcPct val="0"/>
              </a:spcBef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608819" y="1049186"/>
            <a:ext cx="5022012" cy="9237814"/>
          </a:xfrm>
          <a:custGeom>
            <a:avLst/>
            <a:gdLst/>
            <a:ahLst/>
            <a:cxnLst/>
            <a:rect r="r" b="b" t="t" l="l"/>
            <a:pathLst>
              <a:path h="9237814" w="5022012">
                <a:moveTo>
                  <a:pt x="0" y="0"/>
                </a:moveTo>
                <a:lnTo>
                  <a:pt x="5022012" y="0"/>
                </a:lnTo>
                <a:lnTo>
                  <a:pt x="5022012" y="9237814"/>
                </a:lnTo>
                <a:lnTo>
                  <a:pt x="0" y="92378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-573357">
            <a:off x="888635" y="6221480"/>
            <a:ext cx="3388139" cy="4361668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8067530" y="5599032"/>
            <a:ext cx="7582297" cy="1832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39"/>
              </a:lnSpc>
              <a:spcBef>
                <a:spcPct val="0"/>
              </a:spcBef>
            </a:pPr>
            <a:r>
              <a:rPr lang="en-US" b="true" sz="96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DAHXWXrxzNA</dc:identifier>
  <dcterms:modified xsi:type="dcterms:W3CDTF">2011-08-01T06:04:30Z</dcterms:modified>
  <cp:revision>1</cp:revision>
  <dc:title>london Airbnb</dc:title>
</cp:coreProperties>
</file>