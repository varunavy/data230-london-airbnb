
<file path=[Content_Types].xml><?xml version="1.0" encoding="utf-8"?>
<Types xmlns="http://schemas.openxmlformats.org/package/2006/content-types">
  <Default ContentType="application/vnd.openxmlformats-officedocument.oleObject" Extension="bin"/>
  <Default ContentType="application/x-fontdata" Extension="fntdata"/>
  <Default ContentType="image/gif" Extension="gif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notesSlide+xml" PartName="/ppt/notesSlides/notesSlide1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22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x="18288000" cy="10287000"/>
  <p:notesSz cx="6858000" cy="9144000"/>
  <p:embeddedFontLst>
    <p:embeddedFont>
      <p:font typeface="Times New Roman MT Bold" charset="1" panose="02030802070405020303"/>
      <p:regular r:id="rId25"/>
    </p:embeddedFont>
    <p:embeddedFont>
      <p:font typeface="Glacial Indifference Bold" charset="1" panose="00000800000000000000"/>
      <p:regular r:id="rId26"/>
    </p:embeddedFont>
    <p:embeddedFont>
      <p:font typeface="Times New Roman Bold" charset="1" panose="02020803070505020304"/>
      <p:regular r:id="rId3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notesMasters/notesMaster1.xml" Type="http://schemas.openxmlformats.org/officeDocument/2006/relationships/notesMaster"/><Relationship Id="rId23" Target="theme/theme2.xml" Type="http://schemas.openxmlformats.org/officeDocument/2006/relationships/theme"/><Relationship Id="rId24" Target="notesSlides/notesSlide1.xml" Type="http://schemas.openxmlformats.org/officeDocument/2006/relationships/notesSlide"/><Relationship Id="rId25" Target="fonts/font25.fntdata" Type="http://schemas.openxmlformats.org/officeDocument/2006/relationships/font"/><Relationship Id="rId26" Target="fonts/font26.fntdata" Type="http://schemas.openxmlformats.org/officeDocument/2006/relationships/font"/><Relationship Id="rId27" Target="notesSlides/notesSlide2.xml" Type="http://schemas.openxmlformats.org/officeDocument/2006/relationships/notesSlide"/><Relationship Id="rId28" Target="notesSlides/notesSlide3.xml" Type="http://schemas.openxmlformats.org/officeDocument/2006/relationships/notesSlide"/><Relationship Id="rId29" Target="notesSlides/notesSlide4.xml" Type="http://schemas.openxmlformats.org/officeDocument/2006/relationships/notesSlide"/><Relationship Id="rId3" Target="viewProps.xml" Type="http://schemas.openxmlformats.org/officeDocument/2006/relationships/viewProps"/><Relationship Id="rId30" Target="notesSlides/notesSlide5.xml" Type="http://schemas.openxmlformats.org/officeDocument/2006/relationships/notesSlide"/><Relationship Id="rId31" Target="fonts/font31.fntdata" Type="http://schemas.openxmlformats.org/officeDocument/2006/relationships/font"/><Relationship Id="rId32" Target="notesSlides/notesSlide6.xml" Type="http://schemas.openxmlformats.org/officeDocument/2006/relationships/notesSlide"/><Relationship Id="rId33" Target="notesSlides/notesSlide7.xml" Type="http://schemas.openxmlformats.org/officeDocument/2006/relationships/notesSlide"/><Relationship Id="rId34" Target="notesSlides/notesSlide8.xml" Type="http://schemas.openxmlformats.org/officeDocument/2006/relationships/notesSlide"/><Relationship Id="rId35" Target="notesSlides/notesSlide9.xml" Type="http://schemas.openxmlformats.org/officeDocument/2006/relationships/notesSlide"/><Relationship Id="rId36" Target="notesSlides/notesSlide10.xml" Type="http://schemas.openxmlformats.org/officeDocument/2006/relationships/notesSlide"/><Relationship Id="rId37" Target="notesSlides/notesSlide11.xml" Type="http://schemas.openxmlformats.org/officeDocument/2006/relationships/notesSlide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1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3.xml" Type="http://schemas.openxmlformats.org/officeDocument/2006/relationships/slide"/></Relationships>
</file>

<file path=ppt/notesSlides/_rels/notesSlide1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4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"Good evening, we're Group 5, and our project is about London Airbnb listings."</a:t>
            </a:r>
          </a:p>
          <a:p>
            <a:r>
              <a:rPr lang="en-US"/>
              <a:t>"Our question is simple: what makes a listing top rated?"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"We're Priya, Varuna, Sanjana and Ngoc."</a:t>
            </a:r>
          </a:p>
          <a:p>
            <a:r>
              <a:rPr lang="en-US"/>
              <a:t>"Each of us owned one part of the analysis, and you'll hear from all of us today, plus a dashboard demo."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"Our research question: what makes a London Airbnb top rated, meaning 4.8 stars or higher?"</a:t>
            </a:r>
          </a:p>
          <a:p>
            <a:r>
              <a:rPr lang="en-US"/>
              <a:t>"And the practical side: what can hosts learn from the listings that get it right?"</a:t>
            </a:r>
          </a:p>
          <a:p>
            <a:r>
              <a:rPr lang="en-US"/>
              <a:t>"Our goal is to turn 70,708 rated listings into advice a host can act on."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"We answer it in steps: first the market, then the host, the location, and the listing itself."</a:t>
            </a:r>
          </a:p>
          <a:p>
            <a:r>
              <a:rPr lang="en-US"/>
              <a:t>"Each step feeds the next, and at the end we bring it together into what a host should focus on."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Source: "Inside Airbnb's public London snapshot from 19 June 2026, prices in GBP."</a:t>
            </a:r>
          </a:p>
          <a:p>
            <a:r>
              <a:rPr lang="en-US"/>
              <a:t>Size: "92,638 listings and 90 columns; one row is one listing."</a:t>
            </a:r>
          </a:p>
          <a:p>
            <a:r>
              <a:rPr lang="en-US"/>
              <a:t>Task: "We predict whether a listing is top rated, 4.8 or higher, so hosts know what to improve first."</a:t>
            </a:r>
          </a:p>
          <a:p>
            <a:r>
              <a:rPr lang="en-US"/>
              <a:t>Target: "Ratings come from guests: 70,708 listings are rated, and 56% of those are top rated."</a:t>
            </a:r>
          </a:p>
          <a:p>
            <a:r>
              <a:rPr lang="en-US"/>
              <a:t>Why this dataset: "UCI Restaurant was too small at about 7,000 rows. Open Food Facts was from 2017, and its grade is calculated from its own columns, so a model would just relearn the formula."</a:t>
            </a:r>
          </a:p>
          <a:p>
            <a:r>
              <a:rPr lang="en-US"/>
              <a:t>Messy: point at the raw rows. "Price is stored as text, bathrooms are written in words, and values are missing. 14 columns are empty, and a third of prices are missing."</a:t>
            </a:r>
          </a:p>
          <a:p>
            <a:r>
              <a:rPr lang="en-US"/>
              <a:t>Hand-off: "That's what we had to clean."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"We made four decisions, each with a reason. Read across the circles."</a:t>
            </a:r>
          </a:p>
          <a:p>
            <a:r>
              <a:rPr lang="en-US"/>
              <a:t>Drop: "14 columns were completely empty, so we dropped them."</a:t>
            </a:r>
          </a:p>
          <a:p>
            <a:r>
              <a:rPr lang="en-US"/>
              <a:t>Convert: "Price was text with a dollar sign, so we converted it to a number."</a:t>
            </a:r>
          </a:p>
          <a:p>
            <a:r>
              <a:rPr lang="en-US"/>
              <a:t>Cap: point at the figure. "One listing claimed £527,524 a night, an entry error. We capped the top 1%, 623 prices, at £1,373 in a new column, so no rated listing was deleted."</a:t>
            </a:r>
          </a:p>
          <a:p>
            <a:r>
              <a:rPr lang="en-US"/>
              <a:t>Fill + flag: "Missing sizes and prices got the room-type median plus a flag, because missingness itself is linked to the rating."</a:t>
            </a:r>
          </a:p>
          <a:p>
            <a:r>
              <a:rPr lang="en-US"/>
              <a:t>Challenge: "Price is missing for a third of listings, and 87% of those can't be booked. So it's a pattern, not random."</a:t>
            </a:r>
          </a:p>
          <a:p>
            <a:r>
              <a:rPr lang="en-US"/>
              <a:t>Result: "After cleaning: 92,635 rows by 80 columns, and all 7 automated checks pass."</a:t>
            </a:r>
          </a:p>
          <a:p>
            <a:r>
              <a:rPr lang="en-US"/>
              <a:t>Hand-off: "Now Ngoc will show what the data looks like."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“Now that we've understood the overall listings, let's see what separates top-rated Airbnbs.</a:t>
            </a:r>
          </a:p>
          <a:p>
            <a:r>
              <a:rPr lang="en-US"/>
              <a:t/>
            </a:r>
          </a:p>
          <a:p>
            <a:r>
              <a:rPr lang="en-US"/>
              <a:t>Our first finding is about host portfolio size. **Single-listing hosts have a 68.7% top-rated rate, compared with 46.5% for multi-listing hosts.**</a:t>
            </a:r>
          </a:p>
          <a:p>
            <a:r>
              <a:rPr lang="en-US"/>
              <a:t/>
            </a:r>
          </a:p>
          <a:p>
            <a:r>
              <a:rPr lang="en-US"/>
              <a:t>That's a 22.2 percentage-point difference.</a:t>
            </a:r>
          </a:p>
          <a:p>
            <a:r>
              <a:rPr lang="en-US"/>
              <a:t/>
            </a:r>
          </a:p>
          <a:p>
            <a:r>
              <a:rPr lang="en-US"/>
              <a:t>With a Cramér's V of 0.222, host type shows the strongest categorical association in our bivariate analysis.</a:t>
            </a:r>
          </a:p>
          <a:p>
            <a:r>
              <a:rPr lang="en-US"/>
              <a:t/>
            </a:r>
          </a:p>
          <a:p>
            <a:r>
              <a:rPr lang="en-US"/>
              <a:t>What is Cramer's V - it is the strength of association between 2 categorical variables. </a:t>
            </a:r>
          </a:p>
          <a:p>
            <a:r>
              <a:rPr lang="en-US"/>
              <a:t/>
            </a:r>
          </a:p>
          <a:p>
            <a:r>
              <a:rPr lang="en-US"/>
              <a:t>So we decided to carry host portfolio size into our multivariate analysis.”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“Next, we examined location across London's 33 boroughs.</a:t>
            </a:r>
          </a:p>
          <a:p>
            <a:r>
              <a:rPr lang="en-US"/>
              <a:t/>
            </a:r>
          </a:p>
          <a:p>
            <a:r>
              <a:rPr lang="en-US"/>
              <a:t>We found substantial variation. Richmond upon Thames had a 72.1% top-rated rate, while the City of London had only 37.1%.</a:t>
            </a:r>
          </a:p>
          <a:p>
            <a:r>
              <a:rPr lang="en-US"/>
              <a:t/>
            </a:r>
          </a:p>
          <a:p>
            <a:r>
              <a:rPr lang="en-US"/>
              <a:t>Cramér's V was 0.148, indicating a meaningful but weaker association than host type.</a:t>
            </a:r>
          </a:p>
          <a:p>
            <a:r>
              <a:rPr lang="en-US"/>
              <a:t/>
            </a:r>
          </a:p>
          <a:p>
            <a:r>
              <a:rPr lang="en-US"/>
              <a:t>So location is another feature we retained for further analysis.”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“We also examined whether amenity count relates to top-rated status.</a:t>
            </a:r>
          </a:p>
          <a:p>
            <a:r>
              <a:rPr lang="en-US"/>
              <a:t/>
            </a:r>
          </a:p>
          <a:p>
            <a:r>
              <a:rPr lang="en-US"/>
              <a:t>Listings with 43 or more amenities had the highest top-rated rate at 65.7%, compared with approximately 51 to 54% for listings in the lower amenity groups.</a:t>
            </a:r>
          </a:p>
          <a:p>
            <a:r>
              <a:rPr lang="en-US"/>
              <a:t/>
            </a:r>
          </a:p>
          <a:p>
            <a:r>
              <a:rPr lang="en-US"/>
              <a:t>The association was weaker than host type and location, but still meaningful.</a:t>
            </a:r>
          </a:p>
          <a:p>
            <a:r>
              <a:rPr lang="en-US"/>
              <a:t/>
            </a:r>
          </a:p>
          <a:p>
            <a:r>
              <a:rPr lang="en-US"/>
              <a:t>We therefore retained amenity count for multivariate analysis.”</a:t>
            </a:r>
          </a:p>
          <a:p>
            <a:r>
              <a:rPr lang="en-US"/>
              <a:t/>
            </a:r>
          </a:p>
          <a:p>
            <a:r>
              <a:rPr lang="en-US"/>
              <a:t/>
            </a:r>
          </a:p>
          <a:p>
            <a:r>
              <a:rPr lang="en-US"/>
              <a:t>Because quartiles aim to create groups with approximately equal numbers of listings, not equal numerical widths.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Bridge: "EDA told us which signals matter. Now: can they predict a top rating together?"</a:t>
            </a:r>
          </a:p>
          <a:p>
            <a:r>
              <a:rPr lang="en-US"/>
              <a:t>Task: "This is a binary classification task: top rated, 4.8 or above, versus not."</a:t>
            </a:r>
          </a:p>
          <a:p>
            <a:r>
              <a:rPr lang="en-US"/>
              <a:t>Why classification: "Ratings pile up near 5.0, so predicting the exact number isn't useful. A yes/no at 4.8 gives hosts a clear goal."</a:t>
            </a:r>
          </a:p>
          <a:p>
            <a:r>
              <a:rPr lang="en-US"/>
              <a:t>Why no resampling: "The split is 56/44, balanced enough that we don't need resampling."</a:t>
            </a:r>
          </a:p>
          <a:p>
            <a:r>
              <a:rPr lang="en-US"/>
              <a:t>Inputs: point at the table. "Host profile, location, listing and amenities, and booking rules and pricing."</a:t>
            </a:r>
          </a:p>
          <a:p>
            <a:r>
              <a:rPr lang="en-US"/>
              <a:t>Models: "We start with logistic regression as a simple, interpretable baseline. Then we compare it with a random forest, because Priya's analysis showed combined features beat a straight-line rule: AUC 0.770 versus 0.725."</a:t>
            </a:r>
          </a:p>
          <a:p>
            <a:r>
              <a:rPr lang="en-US"/>
              <a:t>Leakage: "We exclude review sub-scores and superhost status, because they come from the same ratings we're predicting."</a:t>
            </a:r>
          </a:p>
          <a:p>
            <a:r>
              <a:rPr lang="en-US"/>
              <a:t>Evaluation: "A stratified 70/15/15 split, with preprocessing fit on training rows only, compared on F1, ROC-AUC and the confusion matrix."</a:t>
            </a:r>
          </a:p>
          <a:p>
            <a:r>
              <a:rPr lang="en-US"/>
              <a:t>Close: "EDA found the signals; the model will test how well they work together."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“We also compared pandas on the CPU with RAPIDS cuDF on an NVIDIA T4 GPU.</a:t>
            </a:r>
          </a:p>
          <a:p>
            <a:r>
              <a:rPr lang="en-US"/>
              <a:t/>
            </a:r>
          </a:p>
          <a:p>
            <a:r>
              <a:rPr lang="en-US"/>
              <a:t>Using the same cleaned dataset and five-run median timings, RAPIDS was approximately 7.49 times faster for Parquet loading and 2.61 times faster for borough aggregation.</a:t>
            </a:r>
          </a:p>
          <a:p>
            <a:r>
              <a:rPr lang="en-US"/>
              <a:t/>
            </a:r>
          </a:p>
          <a:p>
            <a:r>
              <a:rPr lang="en-US"/>
              <a:t>However, for smaller operations, the difference was minimal, and CPU was occasionally faster.</a:t>
            </a:r>
          </a:p>
          <a:p>
            <a:r>
              <a:rPr lang="en-US"/>
              <a:t/>
            </a:r>
          </a:p>
          <a:p>
            <a:r>
              <a:rPr lang="en-US"/>
              <a:t>Our conclusion is that GPU acceleration is useful for selected workloads, but not automatically better for every operation.”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8.gif" Type="http://schemas.openxmlformats.org/officeDocument/2006/relationships/image"/><Relationship Id="rId11" Target="../media/image9.gif" Type="http://schemas.openxmlformats.org/officeDocument/2006/relationships/image"/><Relationship Id="rId12" Target="../media/image10.gif" Type="http://schemas.openxmlformats.org/officeDocument/2006/relationships/image"/><Relationship Id="rId13" Target="../media/image11.gif" Type="http://schemas.openxmlformats.org/officeDocument/2006/relationships/image"/><Relationship Id="rId14" Target="../media/image12.gif" Type="http://schemas.openxmlformats.org/officeDocument/2006/relationships/image"/><Relationship Id="rId2" Target="../notesSlides/notesSlide1.xml" Type="http://schemas.openxmlformats.org/officeDocument/2006/relationships/notesSlide"/><Relationship Id="rId3" Target="../media/image1.png" Type="http://schemas.openxmlformats.org/officeDocument/2006/relationships/image"/><Relationship Id="rId4" Target="../media/image2.svg" Type="http://schemas.openxmlformats.org/officeDocument/2006/relationships/image"/><Relationship Id="rId5" Target="../media/image3.png" Type="http://schemas.openxmlformats.org/officeDocument/2006/relationships/image"/><Relationship Id="rId6" Target="../media/image4.svg" Type="http://schemas.openxmlformats.org/officeDocument/2006/relationships/image"/><Relationship Id="rId7" Target="../media/image5.gif" Type="http://schemas.openxmlformats.org/officeDocument/2006/relationships/image"/><Relationship Id="rId8" Target="../media/image6.gif" Type="http://schemas.openxmlformats.org/officeDocument/2006/relationships/image"/><Relationship Id="rId9" Target="../media/image7.gif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0.svg" Type="http://schemas.openxmlformats.org/officeDocument/2006/relationships/image"/><Relationship Id="rId11" Target="../media/image21.png" Type="http://schemas.openxmlformats.org/officeDocument/2006/relationships/image"/><Relationship Id="rId12" Target="../media/image22.svg" Type="http://schemas.openxmlformats.org/officeDocument/2006/relationships/image"/><Relationship Id="rId13" Target="../media/image23.png" Type="http://schemas.openxmlformats.org/officeDocument/2006/relationships/image"/><Relationship Id="rId14" Target="../media/image24.png" Type="http://schemas.openxmlformats.org/officeDocument/2006/relationships/image"/><Relationship Id="rId2" Target="../notesSlides/notesSlide2.xml" Type="http://schemas.openxmlformats.org/officeDocument/2006/relationships/notesSlide"/><Relationship Id="rId3" Target="../media/image13.png" Type="http://schemas.openxmlformats.org/officeDocument/2006/relationships/image"/><Relationship Id="rId4" Target="../media/image14.png" Type="http://schemas.openxmlformats.org/officeDocument/2006/relationships/image"/><Relationship Id="rId5" Target="../media/image15.png" Type="http://schemas.openxmlformats.org/officeDocument/2006/relationships/image"/><Relationship Id="rId6" Target="../media/image16.png" Type="http://schemas.openxmlformats.org/officeDocument/2006/relationships/image"/><Relationship Id="rId7" Target="../media/image17.png" Type="http://schemas.openxmlformats.org/officeDocument/2006/relationships/image"/><Relationship Id="rId8" Target="../media/image18.svg" Type="http://schemas.openxmlformats.org/officeDocument/2006/relationships/image"/><Relationship Id="rId9" Target="../media/image19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25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21.png" Type="http://schemas.openxmlformats.org/officeDocument/2006/relationships/image"/><Relationship Id="rId4" Target="../media/image22.svg" Type="http://schemas.openxmlformats.org/officeDocument/2006/relationships/image"/><Relationship Id="rId5" Target="../media/image26.png" Type="http://schemas.openxmlformats.org/officeDocument/2006/relationships/image"/><Relationship Id="rId6" Target="../media/image27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Relationship Id="rId3" Target="../media/image28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Relationship Id="rId3" Target="../media/image29.jpeg" Type="http://schemas.openxmlformats.org/officeDocument/2006/relationships/image"/><Relationship Id="rId4" Target="../media/image30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1.png" Type="http://schemas.openxmlformats.org/officeDocument/2006/relationships/image"/><Relationship Id="rId3" Target="../media/image32.png" Type="http://schemas.openxmlformats.org/officeDocument/2006/relationships/image"/><Relationship Id="rId4" Target="../embeddings/oleObject1.bin" Type="http://schemas.openxmlformats.org/officeDocument/2006/relationships/oleObject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3.png" Type="http://schemas.openxmlformats.org/officeDocument/2006/relationships/image"/><Relationship Id="rId3" Target="../media/image34.png" Type="http://schemas.openxmlformats.org/officeDocument/2006/relationships/image"/><Relationship Id="rId4" Target="../embeddings/oleObject2.bin" Type="http://schemas.openxmlformats.org/officeDocument/2006/relationships/oleObject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Relationship Id="rId3" Target="../media/image35.png" Type="http://schemas.openxmlformats.org/officeDocument/2006/relationships/image"/><Relationship Id="rId4" Target="../media/image36.png" Type="http://schemas.openxmlformats.org/officeDocument/2006/relationships/image"/><Relationship Id="rId5" Target="../embeddings/oleObject3.bin" Type="http://schemas.openxmlformats.org/officeDocument/2006/relationships/oleObject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8.xml" Type="http://schemas.openxmlformats.org/officeDocument/2006/relationships/notesSlide"/><Relationship Id="rId3" Target="../media/image37.png" Type="http://schemas.openxmlformats.org/officeDocument/2006/relationships/image"/><Relationship Id="rId4" Target="../embeddings/oleObject4.bin" Type="http://schemas.openxmlformats.org/officeDocument/2006/relationships/oleObject"/><Relationship Id="rId5" Target="../media/image38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9.xml" Type="http://schemas.openxmlformats.org/officeDocument/2006/relationships/notesSlide"/><Relationship Id="rId3" Target="../media/image39.png" Type="http://schemas.openxmlformats.org/officeDocument/2006/relationships/image"/><Relationship Id="rId4" Target="../media/image40.png" Type="http://schemas.openxmlformats.org/officeDocument/2006/relationships/image"/><Relationship Id="rId5" Target="../embeddings/oleObject5.bin" Type="http://schemas.openxmlformats.org/officeDocument/2006/relationships/oleObject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1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0.xml" Type="http://schemas.openxmlformats.org/officeDocument/2006/relationships/notesSlid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1.xml" Type="http://schemas.openxmlformats.org/officeDocument/2006/relationships/notesSlide"/><Relationship Id="rId3" Target="../media/image42.png" Type="http://schemas.openxmlformats.org/officeDocument/2006/relationships/image"/><Relationship Id="rId4" Target="../media/image43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4.png" Type="http://schemas.openxmlformats.org/officeDocument/2006/relationships/image"/><Relationship Id="rId3" Target="../embeddings/oleObject6.bin" Type="http://schemas.openxmlformats.org/officeDocument/2006/relationships/oleObject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6.png" Type="http://schemas.openxmlformats.org/officeDocument/2006/relationships/image"/><Relationship Id="rId3" Target="../media/image27.svg" Type="http://schemas.openxmlformats.org/officeDocument/2006/relationships/image"/><Relationship Id="rId4" Target="../media/image5.gif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EEE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436816">
            <a:off x="-174081" y="6419740"/>
            <a:ext cx="5078994" cy="4053960"/>
          </a:xfrm>
          <a:custGeom>
            <a:avLst/>
            <a:gdLst/>
            <a:ahLst/>
            <a:cxnLst/>
            <a:rect r="r" b="b" t="t" l="l"/>
            <a:pathLst>
              <a:path h="4053960" w="5078994">
                <a:moveTo>
                  <a:pt x="0" y="0"/>
                </a:moveTo>
                <a:lnTo>
                  <a:pt x="5078994" y="0"/>
                </a:lnTo>
                <a:lnTo>
                  <a:pt x="5078994" y="4053961"/>
                </a:lnTo>
                <a:lnTo>
                  <a:pt x="0" y="405396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480260">
            <a:off x="14345670" y="6158372"/>
            <a:ext cx="4615113" cy="4691889"/>
          </a:xfrm>
          <a:custGeom>
            <a:avLst/>
            <a:gdLst/>
            <a:ahLst/>
            <a:cxnLst/>
            <a:rect r="r" b="b" t="t" l="l"/>
            <a:pathLst>
              <a:path h="4691889" w="4615113">
                <a:moveTo>
                  <a:pt x="0" y="0"/>
                </a:moveTo>
                <a:lnTo>
                  <a:pt x="4615113" y="0"/>
                </a:lnTo>
                <a:lnTo>
                  <a:pt x="4615113" y="4691889"/>
                </a:lnTo>
                <a:lnTo>
                  <a:pt x="0" y="469188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7"/>
          <a:srcRect l="0" t="0" r="0" b="0"/>
          <a:stretch>
            <a:fillRect/>
          </a:stretch>
        </p:blipFill>
        <p:spPr>
          <a:xfrm flipH="false" flipV="false" rot="-573357">
            <a:off x="4449285" y="5990655"/>
            <a:ext cx="2074054" cy="2670001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8"/>
          <a:srcRect l="0" t="0" r="0" b="0"/>
          <a:stretch>
            <a:fillRect/>
          </a:stretch>
        </p:blipFill>
        <p:spPr>
          <a:xfrm flipH="false" flipV="false" rot="0">
            <a:off x="658831" y="3443310"/>
            <a:ext cx="3583219" cy="7705419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9"/>
          <a:srcRect l="0" t="0" r="0" b="0"/>
          <a:stretch>
            <a:fillRect/>
          </a:stretch>
        </p:blipFill>
        <p:spPr>
          <a:xfrm flipH="false" flipV="false" rot="0">
            <a:off x="6730573" y="4866789"/>
            <a:ext cx="5134244" cy="5616466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10"/>
          <a:srcRect l="0" t="0" r="0" b="0"/>
          <a:stretch>
            <a:fillRect/>
          </a:stretch>
        </p:blipFill>
        <p:spPr>
          <a:xfrm flipH="false" flipV="false" rot="0">
            <a:off x="14441533" y="5825965"/>
            <a:ext cx="3509839" cy="4461035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11"/>
          <a:srcRect l="0" t="0" r="0" b="0"/>
          <a:stretch>
            <a:fillRect/>
          </a:stretch>
        </p:blipFill>
        <p:spPr>
          <a:xfrm flipH="true" flipV="false" rot="0">
            <a:off x="11149964" y="8119134"/>
            <a:ext cx="3887490" cy="2167866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12"/>
          <a:srcRect l="0" t="0" r="0" b="0"/>
          <a:stretch>
            <a:fillRect/>
          </a:stretch>
        </p:blipFill>
        <p:spPr>
          <a:xfrm flipH="true" flipV="false" rot="0">
            <a:off x="3261865" y="7796119"/>
            <a:ext cx="3794249" cy="2490881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13"/>
          <a:srcRect l="0" t="0" r="0" b="0"/>
          <a:stretch>
            <a:fillRect/>
          </a:stretch>
        </p:blipFill>
        <p:spPr>
          <a:xfrm flipH="false" flipV="false" rot="0">
            <a:off x="12347190" y="6756082"/>
            <a:ext cx="1025981" cy="1193001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14"/>
          <a:srcRect l="0" t="0" r="0" b="0"/>
          <a:stretch>
            <a:fillRect/>
          </a:stretch>
        </p:blipFill>
        <p:spPr>
          <a:xfrm flipH="false" flipV="false" rot="0">
            <a:off x="12266707" y="5722722"/>
            <a:ext cx="1774776" cy="1579550"/>
          </a:xfrm>
          <a:prstGeom prst="rect">
            <a:avLst/>
          </a:prstGeom>
        </p:spPr>
      </p:pic>
      <p:sp>
        <p:nvSpPr>
          <p:cNvPr name="TextBox 12" id="12"/>
          <p:cNvSpPr txBox="true"/>
          <p:nvPr/>
        </p:nvSpPr>
        <p:spPr>
          <a:xfrm rot="0">
            <a:off x="1628111" y="539093"/>
            <a:ext cx="15031779" cy="25578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736"/>
              </a:lnSpc>
            </a:pPr>
            <a:r>
              <a:rPr lang="en-US" b="true" sz="13383">
                <a:solidFill>
                  <a:srgbClr val="D32128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LONDON AIRBNB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3856645" y="2778915"/>
            <a:ext cx="11306744" cy="6456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34"/>
              </a:lnSpc>
            </a:pPr>
            <a:r>
              <a:rPr lang="en-US" sz="4306" b="true">
                <a:solidFill>
                  <a:srgbClr val="D32128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DATA-230 SEC-11 DATA VISUALIZATION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6995028" y="3651749"/>
            <a:ext cx="4297943" cy="4341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37"/>
              </a:lnSpc>
            </a:pPr>
            <a:r>
              <a:rPr lang="en-US" sz="2962" b="true">
                <a:solidFill>
                  <a:srgbClr val="233457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Presented by: GROUP 5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EEE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27807" y="3179870"/>
            <a:ext cx="3927259" cy="3927259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32128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66675"/>
              <a:ext cx="660400" cy="6699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13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719855" y="3471918"/>
            <a:ext cx="3343163" cy="3343163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3"/>
              <a:stretch>
                <a:fillRect l="0" t="-16666" r="0" b="-16666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-157260" y="8475459"/>
            <a:ext cx="18910300" cy="1947863"/>
            <a:chOff x="0" y="0"/>
            <a:chExt cx="4980491" cy="513017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980491" cy="513017"/>
            </a:xfrm>
            <a:custGeom>
              <a:avLst/>
              <a:gdLst/>
              <a:ahLst/>
              <a:cxnLst/>
              <a:rect r="r" b="b" t="t" l="l"/>
              <a:pathLst>
                <a:path h="513017" w="4980491">
                  <a:moveTo>
                    <a:pt x="0" y="0"/>
                  </a:moveTo>
                  <a:lnTo>
                    <a:pt x="4980491" y="0"/>
                  </a:lnTo>
                  <a:lnTo>
                    <a:pt x="4980491" y="513017"/>
                  </a:lnTo>
                  <a:lnTo>
                    <a:pt x="0" y="513017"/>
                  </a:lnTo>
                  <a:close/>
                </a:path>
              </a:pathLst>
            </a:custGeom>
            <a:solidFill>
              <a:srgbClr val="233457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9525"/>
              <a:ext cx="4980491" cy="52254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13"/>
                </a:lnSpc>
              </a:pPr>
            </a:p>
          </p:txBody>
        </p:sp>
      </p:grpSp>
      <p:sp>
        <p:nvSpPr>
          <p:cNvPr name="AutoShape 10" id="10"/>
          <p:cNvSpPr/>
          <p:nvPr/>
        </p:nvSpPr>
        <p:spPr>
          <a:xfrm>
            <a:off x="14" y="8456409"/>
            <a:ext cx="20018646" cy="19050"/>
          </a:xfrm>
          <a:prstGeom prst="line">
            <a:avLst/>
          </a:prstGeom>
          <a:ln cap="flat" w="28575">
            <a:solidFill>
              <a:srgbClr val="D32128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1" id="11"/>
          <p:cNvGrpSpPr/>
          <p:nvPr/>
        </p:nvGrpSpPr>
        <p:grpSpPr>
          <a:xfrm rot="0">
            <a:off x="4833932" y="3179870"/>
            <a:ext cx="3927259" cy="3927259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32128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76200" y="66675"/>
              <a:ext cx="660400" cy="6699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13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9393928" y="3397058"/>
            <a:ext cx="3927259" cy="3927259"/>
            <a:chOff x="0" y="0"/>
            <a:chExt cx="812800" cy="812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32128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76200" y="66675"/>
              <a:ext cx="660400" cy="6699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13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3932933" y="3425633"/>
            <a:ext cx="3927259" cy="3927259"/>
            <a:chOff x="0" y="0"/>
            <a:chExt cx="812800" cy="8128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32128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76200" y="66675"/>
              <a:ext cx="660400" cy="6699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13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5125980" y="3471918"/>
            <a:ext cx="3343163" cy="3343163"/>
            <a:chOff x="0" y="0"/>
            <a:chExt cx="812800" cy="8128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4"/>
              <a:stretch>
                <a:fillRect l="-40483" t="0" r="-37293" b="0"/>
              </a:stretch>
            </a:blip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9685976" y="3689106"/>
            <a:ext cx="3343163" cy="3343163"/>
            <a:chOff x="0" y="0"/>
            <a:chExt cx="812800" cy="8128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5"/>
              <a:stretch>
                <a:fillRect l="-16293" t="-9455" r="-27726" b="0"/>
              </a:stretch>
            </a:blip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14224981" y="3763966"/>
            <a:ext cx="3343163" cy="3343163"/>
            <a:chOff x="0" y="0"/>
            <a:chExt cx="812800" cy="8128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6"/>
              <a:stretch>
                <a:fillRect l="0" t="-16666" r="0" b="-16666"/>
              </a:stretch>
            </a:blipFill>
          </p:spPr>
        </p:sp>
      </p:grpSp>
      <p:sp>
        <p:nvSpPr>
          <p:cNvPr name="TextBox 26" id="26"/>
          <p:cNvSpPr txBox="true"/>
          <p:nvPr/>
        </p:nvSpPr>
        <p:spPr>
          <a:xfrm rot="0">
            <a:off x="890626" y="7657692"/>
            <a:ext cx="3001622" cy="4905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51"/>
              </a:lnSpc>
            </a:pPr>
            <a:r>
              <a:rPr lang="en-US" b="true" sz="3282">
                <a:solidFill>
                  <a:srgbClr val="D32128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Priya</a:t>
            </a:r>
          </a:p>
        </p:txBody>
      </p:sp>
      <p:sp>
        <p:nvSpPr>
          <p:cNvPr name="Freeform 27" id="27"/>
          <p:cNvSpPr/>
          <p:nvPr/>
        </p:nvSpPr>
        <p:spPr>
          <a:xfrm flipH="false" flipV="false" rot="0">
            <a:off x="427807" y="7442668"/>
            <a:ext cx="625753" cy="2844332"/>
          </a:xfrm>
          <a:custGeom>
            <a:avLst/>
            <a:gdLst/>
            <a:ahLst/>
            <a:cxnLst/>
            <a:rect r="r" b="b" t="t" l="l"/>
            <a:pathLst>
              <a:path h="2844332" w="625753">
                <a:moveTo>
                  <a:pt x="0" y="0"/>
                </a:moveTo>
                <a:lnTo>
                  <a:pt x="625753" y="0"/>
                </a:lnTo>
                <a:lnTo>
                  <a:pt x="625753" y="2844332"/>
                </a:lnTo>
                <a:lnTo>
                  <a:pt x="0" y="2844332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8" id="28"/>
          <p:cNvSpPr/>
          <p:nvPr/>
        </p:nvSpPr>
        <p:spPr>
          <a:xfrm flipH="false" flipV="false" rot="0">
            <a:off x="3292239" y="7898217"/>
            <a:ext cx="2298045" cy="2393796"/>
          </a:xfrm>
          <a:custGeom>
            <a:avLst/>
            <a:gdLst/>
            <a:ahLst/>
            <a:cxnLst/>
            <a:rect r="r" b="b" t="t" l="l"/>
            <a:pathLst>
              <a:path h="2393796" w="2298045">
                <a:moveTo>
                  <a:pt x="0" y="0"/>
                </a:moveTo>
                <a:lnTo>
                  <a:pt x="2298045" y="0"/>
                </a:lnTo>
                <a:lnTo>
                  <a:pt x="2298045" y="2393796"/>
                </a:lnTo>
                <a:lnTo>
                  <a:pt x="0" y="2393796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9" id="29"/>
          <p:cNvSpPr/>
          <p:nvPr/>
        </p:nvSpPr>
        <p:spPr>
          <a:xfrm flipH="false" flipV="false" rot="0">
            <a:off x="7828962" y="8790479"/>
            <a:ext cx="2630075" cy="1501534"/>
          </a:xfrm>
          <a:custGeom>
            <a:avLst/>
            <a:gdLst/>
            <a:ahLst/>
            <a:cxnLst/>
            <a:rect r="r" b="b" t="t" l="l"/>
            <a:pathLst>
              <a:path h="1501534" w="2630075">
                <a:moveTo>
                  <a:pt x="0" y="0"/>
                </a:moveTo>
                <a:lnTo>
                  <a:pt x="2630076" y="0"/>
                </a:lnTo>
                <a:lnTo>
                  <a:pt x="2630076" y="1501534"/>
                </a:lnTo>
                <a:lnTo>
                  <a:pt x="0" y="1501534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0" id="30"/>
          <p:cNvSpPr/>
          <p:nvPr/>
        </p:nvSpPr>
        <p:spPr>
          <a:xfrm flipH="false" flipV="false" rot="0">
            <a:off x="12375144" y="8970668"/>
            <a:ext cx="3115579" cy="1316332"/>
          </a:xfrm>
          <a:custGeom>
            <a:avLst/>
            <a:gdLst/>
            <a:ahLst/>
            <a:cxnLst/>
            <a:rect r="r" b="b" t="t" l="l"/>
            <a:pathLst>
              <a:path h="1316332" w="3115579">
                <a:moveTo>
                  <a:pt x="0" y="0"/>
                </a:moveTo>
                <a:lnTo>
                  <a:pt x="3115579" y="0"/>
                </a:lnTo>
                <a:lnTo>
                  <a:pt x="3115579" y="1316332"/>
                </a:lnTo>
                <a:lnTo>
                  <a:pt x="0" y="1316332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  <p:sp>
        <p:nvSpPr>
          <p:cNvPr name="Freeform 31" id="31"/>
          <p:cNvSpPr/>
          <p:nvPr/>
        </p:nvSpPr>
        <p:spPr>
          <a:xfrm flipH="false" flipV="false" rot="0">
            <a:off x="16827153" y="7821068"/>
            <a:ext cx="1033040" cy="2548094"/>
          </a:xfrm>
          <a:custGeom>
            <a:avLst/>
            <a:gdLst/>
            <a:ahLst/>
            <a:cxnLst/>
            <a:rect r="r" b="b" t="t" l="l"/>
            <a:pathLst>
              <a:path h="2548094" w="1033040">
                <a:moveTo>
                  <a:pt x="0" y="0"/>
                </a:moveTo>
                <a:lnTo>
                  <a:pt x="1033040" y="0"/>
                </a:lnTo>
                <a:lnTo>
                  <a:pt x="1033040" y="2548094"/>
                </a:lnTo>
                <a:lnTo>
                  <a:pt x="0" y="2548094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0" r="0" b="0"/>
            </a:stretch>
          </a:blipFill>
        </p:spPr>
      </p:sp>
      <p:sp>
        <p:nvSpPr>
          <p:cNvPr name="TextBox 32" id="32"/>
          <p:cNvSpPr txBox="true"/>
          <p:nvPr/>
        </p:nvSpPr>
        <p:spPr>
          <a:xfrm rot="0">
            <a:off x="685532" y="1364660"/>
            <a:ext cx="16916936" cy="10953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900"/>
              </a:lnSpc>
              <a:spcBef>
                <a:spcPct val="0"/>
              </a:spcBef>
            </a:pPr>
            <a:r>
              <a:rPr lang="en-US" b="true" sz="7500">
                <a:solidFill>
                  <a:srgbClr val="233457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MEET </a:t>
            </a:r>
            <a:r>
              <a:rPr lang="en-US" b="true" sz="7500">
                <a:solidFill>
                  <a:srgbClr val="233457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Our </a:t>
            </a:r>
            <a:r>
              <a:rPr lang="en-US" b="true" sz="7500" strike="noStrike" u="none">
                <a:solidFill>
                  <a:srgbClr val="233457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LONDON DATA CREW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6150655" y="7657692"/>
            <a:ext cx="1293813" cy="4905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3151"/>
              </a:lnSpc>
              <a:spcBef>
                <a:spcPct val="0"/>
              </a:spcBef>
            </a:pPr>
            <a:r>
              <a:rPr lang="en-US" b="true" sz="3282" strike="noStrike" u="none">
                <a:solidFill>
                  <a:srgbClr val="D32128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Varuna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0654146" y="7657692"/>
            <a:ext cx="1406823" cy="4905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3151"/>
              </a:lnSpc>
              <a:spcBef>
                <a:spcPct val="0"/>
              </a:spcBef>
            </a:pPr>
            <a:r>
              <a:rPr lang="en-US" b="true" sz="3282" strike="noStrike" u="none">
                <a:solidFill>
                  <a:srgbClr val="D32128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Sanjana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5436188" y="7657692"/>
            <a:ext cx="920750" cy="4905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3151"/>
              </a:lnSpc>
              <a:spcBef>
                <a:spcPct val="0"/>
              </a:spcBef>
            </a:pPr>
            <a:r>
              <a:rPr lang="en-US" b="true" sz="3282" strike="noStrike" u="none">
                <a:solidFill>
                  <a:srgbClr val="D32128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Ngoc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EEE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699974" y="5143500"/>
            <a:ext cx="8888053" cy="3263218"/>
          </a:xfrm>
          <a:custGeom>
            <a:avLst/>
            <a:gdLst/>
            <a:ahLst/>
            <a:cxnLst/>
            <a:rect r="r" b="b" t="t" l="l"/>
            <a:pathLst>
              <a:path h="3263218" w="8888053">
                <a:moveTo>
                  <a:pt x="0" y="0"/>
                </a:moveTo>
                <a:lnTo>
                  <a:pt x="8888052" y="0"/>
                </a:lnTo>
                <a:lnTo>
                  <a:pt x="8888052" y="3263218"/>
                </a:lnTo>
                <a:lnTo>
                  <a:pt x="0" y="326321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3803451" y="4473342"/>
            <a:ext cx="10681097" cy="5246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324"/>
              </a:lnSpc>
            </a:pPr>
            <a:r>
              <a:rPr lang="en-US" sz="3462" b="true">
                <a:solidFill>
                  <a:srgbClr val="233457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And what can hosts learn from the listings that get it right?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175604" y="2489155"/>
            <a:ext cx="15936792" cy="19841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977"/>
              </a:lnSpc>
            </a:pPr>
            <a:r>
              <a:rPr lang="en-US" b="true" sz="7584">
                <a:solidFill>
                  <a:srgbClr val="233457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WHAT MAKES A LONDON AIRBNB TOP-RATED - 4.8+?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1528459"/>
            <a:ext cx="3897904" cy="5511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58"/>
              </a:lnSpc>
            </a:pPr>
            <a:r>
              <a:rPr lang="en-US" sz="3706" b="true">
                <a:solidFill>
                  <a:srgbClr val="D32128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Research Question: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4003675" y="8758630"/>
            <a:ext cx="10195917" cy="3703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364"/>
              </a:lnSpc>
              <a:spcBef>
                <a:spcPct val="0"/>
              </a:spcBef>
            </a:pPr>
            <a:r>
              <a:rPr lang="en-US" b="true" sz="2462" strike="noStrike" u="none">
                <a:solidFill>
                  <a:srgbClr val="233457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Our goal: Turn 70,708 listings into actionable insights for London Airbnb hosts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EEE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-1115124" y="4744625"/>
            <a:ext cx="20018646" cy="19050"/>
          </a:xfrm>
          <a:prstGeom prst="line">
            <a:avLst/>
          </a:prstGeom>
          <a:ln cap="flat" w="28575">
            <a:solidFill>
              <a:srgbClr val="233457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3" id="3"/>
          <p:cNvSpPr txBox="true"/>
          <p:nvPr/>
        </p:nvSpPr>
        <p:spPr>
          <a:xfrm rot="0">
            <a:off x="1639833" y="1609759"/>
            <a:ext cx="15008335" cy="9354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965"/>
              </a:lnSpc>
              <a:spcBef>
                <a:spcPct val="0"/>
              </a:spcBef>
            </a:pPr>
            <a:r>
              <a:rPr lang="en-US" b="true" sz="6484">
                <a:solidFill>
                  <a:srgbClr val="233457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OUR ROADMAP TO THE ANSWER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2269205" y="6372569"/>
            <a:ext cx="2301518" cy="10849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71"/>
              </a:lnSpc>
            </a:pPr>
            <a:r>
              <a:rPr lang="en-US" sz="2782" b="true">
                <a:solidFill>
                  <a:srgbClr val="233457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What does </a:t>
            </a:r>
          </a:p>
          <a:p>
            <a:pPr algn="ctr">
              <a:lnSpc>
                <a:spcPts val="2671"/>
              </a:lnSpc>
            </a:pPr>
            <a:r>
              <a:rPr lang="en-US" b="true" sz="2782">
                <a:solidFill>
                  <a:srgbClr val="233457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London Airbnb look like?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2269205" y="3659606"/>
            <a:ext cx="2170039" cy="2170039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32128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76200" y="66675"/>
              <a:ext cx="660400" cy="6699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13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2206640" y="4335698"/>
            <a:ext cx="2295168" cy="8273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59"/>
              </a:lnSpc>
            </a:pPr>
            <a:r>
              <a:rPr lang="en-US" b="true" sz="3082" spc="255">
                <a:solidFill>
                  <a:srgbClr val="FFFFFF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THE MARKET</a:t>
            </a:r>
          </a:p>
        </p:txBody>
      </p:sp>
      <p:sp>
        <p:nvSpPr>
          <p:cNvPr name="Freeform 9" id="9"/>
          <p:cNvSpPr/>
          <p:nvPr/>
        </p:nvSpPr>
        <p:spPr>
          <a:xfrm flipH="true" flipV="false" rot="0">
            <a:off x="16503033" y="4390943"/>
            <a:ext cx="1512534" cy="863519"/>
          </a:xfrm>
          <a:custGeom>
            <a:avLst/>
            <a:gdLst/>
            <a:ahLst/>
            <a:cxnLst/>
            <a:rect r="r" b="b" t="t" l="l"/>
            <a:pathLst>
              <a:path h="863519" w="1512534">
                <a:moveTo>
                  <a:pt x="1512534" y="0"/>
                </a:moveTo>
                <a:lnTo>
                  <a:pt x="0" y="0"/>
                </a:lnTo>
                <a:lnTo>
                  <a:pt x="0" y="863519"/>
                </a:lnTo>
                <a:lnTo>
                  <a:pt x="1512534" y="863519"/>
                </a:lnTo>
                <a:lnTo>
                  <a:pt x="1512534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472822" y="3118232"/>
            <a:ext cx="1111755" cy="2045035"/>
          </a:xfrm>
          <a:custGeom>
            <a:avLst/>
            <a:gdLst/>
            <a:ahLst/>
            <a:cxnLst/>
            <a:rect r="r" b="b" t="t" l="l"/>
            <a:pathLst>
              <a:path h="2045035" w="1111755">
                <a:moveTo>
                  <a:pt x="0" y="0"/>
                </a:moveTo>
                <a:lnTo>
                  <a:pt x="1111756" y="0"/>
                </a:lnTo>
                <a:lnTo>
                  <a:pt x="1111756" y="2045035"/>
                </a:lnTo>
                <a:lnTo>
                  <a:pt x="0" y="204503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5125044" y="3678656"/>
            <a:ext cx="2170039" cy="2170039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33457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76200" y="66675"/>
              <a:ext cx="660400" cy="6699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13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8058981" y="3678656"/>
            <a:ext cx="2170039" cy="2170039"/>
            <a:chOff x="0" y="0"/>
            <a:chExt cx="812800" cy="812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A4D1E4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76200" y="66675"/>
              <a:ext cx="660400" cy="6699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13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0977384" y="3678656"/>
            <a:ext cx="2170039" cy="2170039"/>
            <a:chOff x="0" y="0"/>
            <a:chExt cx="812800" cy="8128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33457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76200" y="66675"/>
              <a:ext cx="660400" cy="6699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13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3822793" y="3659606"/>
            <a:ext cx="2170039" cy="2170039"/>
            <a:chOff x="0" y="0"/>
            <a:chExt cx="812800" cy="8128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32128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76200" y="66675"/>
              <a:ext cx="660400" cy="6699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13"/>
                </a:lnSpc>
              </a:pPr>
            </a:p>
          </p:txBody>
        </p:sp>
      </p:grpSp>
      <p:sp>
        <p:nvSpPr>
          <p:cNvPr name="TextBox 23" id="23"/>
          <p:cNvSpPr txBox="true"/>
          <p:nvPr/>
        </p:nvSpPr>
        <p:spPr>
          <a:xfrm rot="0">
            <a:off x="5062479" y="4354748"/>
            <a:ext cx="2295168" cy="8273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59"/>
              </a:lnSpc>
            </a:pPr>
            <a:r>
              <a:rPr lang="en-US" b="true" sz="3082" spc="255">
                <a:solidFill>
                  <a:srgbClr val="FFFFFF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THE HOST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7996416" y="4400468"/>
            <a:ext cx="2295168" cy="6978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2479"/>
              </a:lnSpc>
              <a:spcBef>
                <a:spcPct val="0"/>
              </a:spcBef>
            </a:pPr>
            <a:r>
              <a:rPr lang="en-US" b="true" sz="2582" spc="214" strike="noStrike" u="none">
                <a:solidFill>
                  <a:srgbClr val="FFFFFF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THE LOCATION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0914819" y="4316122"/>
            <a:ext cx="2295168" cy="8273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59"/>
              </a:lnSpc>
            </a:pPr>
            <a:r>
              <a:rPr lang="en-US" b="true" sz="3082" spc="255">
                <a:solidFill>
                  <a:srgbClr val="FFFFFF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THE LISTING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3760229" y="4400468"/>
            <a:ext cx="2295168" cy="8273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59"/>
              </a:lnSpc>
            </a:pPr>
            <a:r>
              <a:rPr lang="en-US" b="true" sz="3082" spc="255">
                <a:solidFill>
                  <a:srgbClr val="FFFFFF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THE ANSWER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5125044" y="6372569"/>
            <a:ext cx="2301518" cy="10849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71"/>
              </a:lnSpc>
            </a:pPr>
            <a:r>
              <a:rPr lang="en-US" sz="2782" b="true">
                <a:solidFill>
                  <a:srgbClr val="233457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Does the host behind the listing matter?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8058981" y="6372569"/>
            <a:ext cx="2301518" cy="14183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71"/>
              </a:lnSpc>
            </a:pPr>
            <a:r>
              <a:rPr lang="en-US" sz="2782" b="true">
                <a:solidFill>
                  <a:srgbClr val="233457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Where are highly rated listings concentrated?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0989149" y="6372569"/>
            <a:ext cx="2301518" cy="17516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71"/>
              </a:lnSpc>
            </a:pPr>
            <a:r>
              <a:rPr lang="en-US" sz="2782" b="true">
                <a:solidFill>
                  <a:srgbClr val="233457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Which property and listing features move together with ratings?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3691314" y="6372569"/>
            <a:ext cx="2301518" cy="7515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71"/>
              </a:lnSpc>
            </a:pPr>
            <a:r>
              <a:rPr lang="en-US" sz="2782" b="true">
                <a:solidFill>
                  <a:srgbClr val="233457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What should a host focus on?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2269205" y="914400"/>
            <a:ext cx="2426295" cy="5294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95"/>
              </a:lnSpc>
              <a:spcBef>
                <a:spcPct val="0"/>
              </a:spcBef>
            </a:pPr>
            <a:r>
              <a:rPr lang="en-US" b="true" sz="2782">
                <a:solidFill>
                  <a:srgbClr val="D32128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Analysis journey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EEE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66419" y="1724025"/>
            <a:ext cx="16155162" cy="7468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86"/>
              </a:lnSpc>
            </a:pPr>
            <a:r>
              <a:rPr lang="en-US" sz="5963" b="true">
                <a:solidFill>
                  <a:srgbClr val="233457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92,638 LISTINGS: WHAT EARNS A 4.8+?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66419" y="847725"/>
            <a:ext cx="4572000" cy="596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94"/>
              </a:lnSpc>
            </a:pPr>
            <a:r>
              <a:rPr lang="en-US" sz="2781" b="true">
                <a:solidFill>
                  <a:srgbClr val="D32128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Dataset overview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188720" y="2880360"/>
            <a:ext cx="2286000" cy="2286000"/>
            <a:chOff x="0" y="0"/>
            <a:chExt cx="3048000" cy="3048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3048000" cy="3048000"/>
            </a:xfrm>
            <a:custGeom>
              <a:avLst/>
              <a:gdLst/>
              <a:ahLst/>
              <a:cxnLst/>
              <a:rect r="r" b="b" t="t" l="l"/>
              <a:pathLst>
                <a:path h="3048000" w="3048000">
                  <a:moveTo>
                    <a:pt x="0" y="1524000"/>
                  </a:moveTo>
                  <a:cubicBezTo>
                    <a:pt x="0" y="682371"/>
                    <a:pt x="682371" y="0"/>
                    <a:pt x="1524000" y="0"/>
                  </a:cubicBezTo>
                  <a:cubicBezTo>
                    <a:pt x="2365629" y="0"/>
                    <a:pt x="3048000" y="682371"/>
                    <a:pt x="3048000" y="1524000"/>
                  </a:cubicBezTo>
                  <a:cubicBezTo>
                    <a:pt x="3048000" y="2365629"/>
                    <a:pt x="2365629" y="3048000"/>
                    <a:pt x="1524000" y="3048000"/>
                  </a:cubicBezTo>
                  <a:cubicBezTo>
                    <a:pt x="682371" y="3048000"/>
                    <a:pt x="0" y="2365629"/>
                    <a:pt x="0" y="1524000"/>
                  </a:cubicBezTo>
                  <a:close/>
                </a:path>
              </a:pathLst>
            </a:custGeom>
            <a:solidFill>
              <a:srgbClr val="D32128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19050"/>
              <a:ext cx="3048000" cy="30670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  <a:r>
                <a:rPr lang="en-US" sz="2799" b="true">
                  <a:solidFill>
                    <a:srgbClr val="FFFFFF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92,638</a:t>
              </a:r>
            </a:p>
            <a:p>
              <a:pPr algn="ctr">
                <a:lnSpc>
                  <a:spcPts val="1800"/>
                </a:lnSpc>
              </a:pPr>
              <a:r>
                <a:rPr lang="en-US" sz="1500" b="true">
                  <a:solidFill>
                    <a:srgbClr val="FFFFFF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LISTINGS</a:t>
              </a: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822960" y="5284470"/>
            <a:ext cx="3017520" cy="933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sz="1800" b="true">
                <a:solidFill>
                  <a:srgbClr val="233457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One row = one listing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4251960" y="2880360"/>
            <a:ext cx="2286000" cy="2286000"/>
            <a:chOff x="0" y="0"/>
            <a:chExt cx="3048000" cy="30480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048000" cy="3048000"/>
            </a:xfrm>
            <a:custGeom>
              <a:avLst/>
              <a:gdLst/>
              <a:ahLst/>
              <a:cxnLst/>
              <a:rect r="r" b="b" t="t" l="l"/>
              <a:pathLst>
                <a:path h="3048000" w="3048000">
                  <a:moveTo>
                    <a:pt x="0" y="1524000"/>
                  </a:moveTo>
                  <a:cubicBezTo>
                    <a:pt x="0" y="682371"/>
                    <a:pt x="682371" y="0"/>
                    <a:pt x="1524000" y="0"/>
                  </a:cubicBezTo>
                  <a:cubicBezTo>
                    <a:pt x="2365629" y="0"/>
                    <a:pt x="3048000" y="682371"/>
                    <a:pt x="3048000" y="1524000"/>
                  </a:cubicBezTo>
                  <a:cubicBezTo>
                    <a:pt x="3048000" y="2365629"/>
                    <a:pt x="2365629" y="3048000"/>
                    <a:pt x="1524000" y="3048000"/>
                  </a:cubicBezTo>
                  <a:cubicBezTo>
                    <a:pt x="682371" y="3048000"/>
                    <a:pt x="0" y="2365629"/>
                    <a:pt x="0" y="1524000"/>
                  </a:cubicBezTo>
                  <a:close/>
                </a:path>
              </a:pathLst>
            </a:custGeom>
            <a:solidFill>
              <a:srgbClr val="233457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19050"/>
              <a:ext cx="3048000" cy="30670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  <a:r>
                <a:rPr lang="en-US" sz="2799" b="true">
                  <a:solidFill>
                    <a:srgbClr val="FFFFFF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90</a:t>
              </a:r>
            </a:p>
            <a:p>
              <a:pPr algn="ctr">
                <a:lnSpc>
                  <a:spcPts val="1800"/>
                </a:lnSpc>
              </a:pPr>
              <a:r>
                <a:rPr lang="en-US" sz="1500" b="true">
                  <a:solidFill>
                    <a:srgbClr val="FFFFFF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COLUMNS</a:t>
              </a: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3886200" y="5284470"/>
            <a:ext cx="3017520" cy="933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sz="1800" b="true">
                <a:solidFill>
                  <a:srgbClr val="233457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Price, location, property, host, reviews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7315200" y="2880360"/>
            <a:ext cx="2286000" cy="2286000"/>
            <a:chOff x="0" y="0"/>
            <a:chExt cx="3048000" cy="30480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3048000" cy="3048000"/>
            </a:xfrm>
            <a:custGeom>
              <a:avLst/>
              <a:gdLst/>
              <a:ahLst/>
              <a:cxnLst/>
              <a:rect r="r" b="b" t="t" l="l"/>
              <a:pathLst>
                <a:path h="3048000" w="3048000">
                  <a:moveTo>
                    <a:pt x="0" y="1524000"/>
                  </a:moveTo>
                  <a:cubicBezTo>
                    <a:pt x="0" y="682371"/>
                    <a:pt x="682371" y="0"/>
                    <a:pt x="1524000" y="0"/>
                  </a:cubicBezTo>
                  <a:cubicBezTo>
                    <a:pt x="2365629" y="0"/>
                    <a:pt x="3048000" y="682371"/>
                    <a:pt x="3048000" y="1524000"/>
                  </a:cubicBezTo>
                  <a:cubicBezTo>
                    <a:pt x="3048000" y="2365629"/>
                    <a:pt x="2365629" y="3048000"/>
                    <a:pt x="1524000" y="3048000"/>
                  </a:cubicBezTo>
                  <a:cubicBezTo>
                    <a:pt x="682371" y="3048000"/>
                    <a:pt x="0" y="2365629"/>
                    <a:pt x="0" y="1524000"/>
                  </a:cubicBezTo>
                  <a:close/>
                </a:path>
              </a:pathLst>
            </a:custGeom>
            <a:solidFill>
              <a:srgbClr val="A4D1E4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19050"/>
              <a:ext cx="3048000" cy="30670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  <a:r>
                <a:rPr lang="en-US" sz="2799" b="true">
                  <a:solidFill>
                    <a:srgbClr val="233457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56%</a:t>
              </a:r>
            </a:p>
            <a:p>
              <a:pPr algn="ctr">
                <a:lnSpc>
                  <a:spcPts val="1800"/>
                </a:lnSpc>
              </a:pPr>
              <a:r>
                <a:rPr lang="en-US" sz="1500" b="true">
                  <a:solidFill>
                    <a:srgbClr val="233457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TOP RATED</a:t>
              </a: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6949440" y="5284470"/>
            <a:ext cx="3017520" cy="933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sz="1800" b="true">
                <a:solidFill>
                  <a:srgbClr val="233457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of 70,708 guest-rated listings scored 4.8+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1069848" y="6492240"/>
            <a:ext cx="3127248" cy="3154680"/>
            <a:chOff x="0" y="0"/>
            <a:chExt cx="4169664" cy="420624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4169664" cy="4206240"/>
            </a:xfrm>
            <a:custGeom>
              <a:avLst/>
              <a:gdLst/>
              <a:ahLst/>
              <a:cxnLst/>
              <a:rect r="r" b="b" t="t" l="l"/>
              <a:pathLst>
                <a:path h="4206240" w="4169664">
                  <a:moveTo>
                    <a:pt x="0" y="333629"/>
                  </a:moveTo>
                  <a:cubicBezTo>
                    <a:pt x="0" y="149352"/>
                    <a:pt x="149352" y="0"/>
                    <a:pt x="333629" y="0"/>
                  </a:cubicBezTo>
                  <a:lnTo>
                    <a:pt x="3836035" y="0"/>
                  </a:lnTo>
                  <a:cubicBezTo>
                    <a:pt x="4020312" y="0"/>
                    <a:pt x="4169664" y="149352"/>
                    <a:pt x="4169664" y="333629"/>
                  </a:cubicBezTo>
                  <a:lnTo>
                    <a:pt x="4169664" y="3872611"/>
                  </a:lnTo>
                  <a:cubicBezTo>
                    <a:pt x="4169664" y="4056888"/>
                    <a:pt x="4020312" y="4206240"/>
                    <a:pt x="3836035" y="4206240"/>
                  </a:cubicBezTo>
                  <a:lnTo>
                    <a:pt x="333629" y="4206240"/>
                  </a:lnTo>
                  <a:cubicBezTo>
                    <a:pt x="149352" y="4206240"/>
                    <a:pt x="0" y="4056888"/>
                    <a:pt x="0" y="3872611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18" id="18"/>
          <p:cNvSpPr txBox="true"/>
          <p:nvPr/>
        </p:nvSpPr>
        <p:spPr>
          <a:xfrm rot="0">
            <a:off x="1362456" y="6721907"/>
            <a:ext cx="2542032" cy="26762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 b="true">
                <a:solidFill>
                  <a:srgbClr val="D32128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OUR TASK</a:t>
            </a:r>
          </a:p>
          <a:p>
            <a:pPr algn="l">
              <a:lnSpc>
                <a:spcPts val="2400"/>
              </a:lnSpc>
            </a:pPr>
            <a:r>
              <a:rPr lang="en-US" sz="2000" b="true">
                <a:solidFill>
                  <a:srgbClr val="233457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Predict whether a listing is top rated (4.8+)</a:t>
            </a:r>
          </a:p>
          <a:p>
            <a:pPr algn="l">
              <a:lnSpc>
                <a:spcPts val="2279"/>
              </a:lnSpc>
            </a:pPr>
            <a:r>
              <a:rPr lang="en-US" sz="1899" b="true">
                <a:solidFill>
                  <a:srgbClr val="5A6478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so hosts know what to improve first.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4361688" y="6492240"/>
            <a:ext cx="3127248" cy="3154680"/>
            <a:chOff x="0" y="0"/>
            <a:chExt cx="4169664" cy="420624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4169664" cy="4206240"/>
            </a:xfrm>
            <a:custGeom>
              <a:avLst/>
              <a:gdLst/>
              <a:ahLst/>
              <a:cxnLst/>
              <a:rect r="r" b="b" t="t" l="l"/>
              <a:pathLst>
                <a:path h="4206240" w="4169664">
                  <a:moveTo>
                    <a:pt x="0" y="333629"/>
                  </a:moveTo>
                  <a:cubicBezTo>
                    <a:pt x="0" y="149352"/>
                    <a:pt x="149352" y="0"/>
                    <a:pt x="333629" y="0"/>
                  </a:cubicBezTo>
                  <a:lnTo>
                    <a:pt x="3836035" y="0"/>
                  </a:lnTo>
                  <a:cubicBezTo>
                    <a:pt x="4020312" y="0"/>
                    <a:pt x="4169664" y="149352"/>
                    <a:pt x="4169664" y="333629"/>
                  </a:cubicBezTo>
                  <a:lnTo>
                    <a:pt x="4169664" y="3872611"/>
                  </a:lnTo>
                  <a:cubicBezTo>
                    <a:pt x="4169664" y="4056888"/>
                    <a:pt x="4020312" y="4206240"/>
                    <a:pt x="3836035" y="4206240"/>
                  </a:cubicBezTo>
                  <a:lnTo>
                    <a:pt x="333629" y="4206240"/>
                  </a:lnTo>
                  <a:cubicBezTo>
                    <a:pt x="149352" y="4206240"/>
                    <a:pt x="0" y="4056888"/>
                    <a:pt x="0" y="3872611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21" id="21"/>
          <p:cNvSpPr txBox="true"/>
          <p:nvPr/>
        </p:nvSpPr>
        <p:spPr>
          <a:xfrm rot="0">
            <a:off x="4654296" y="6721907"/>
            <a:ext cx="2542032" cy="26762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 b="true">
                <a:solidFill>
                  <a:srgbClr val="D32128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WHY THIS DATASET</a:t>
            </a:r>
          </a:p>
          <a:p>
            <a:pPr algn="l">
              <a:lnSpc>
                <a:spcPts val="2040"/>
              </a:lnSpc>
            </a:pPr>
            <a:r>
              <a:rPr lang="en-US" sz="1700" b="true">
                <a:solidFill>
                  <a:srgbClr val="5A6478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UCI Restaurant: 7,207 rows, too small</a:t>
            </a:r>
          </a:p>
          <a:p>
            <a:pPr algn="l">
              <a:lnSpc>
                <a:spcPts val="2040"/>
              </a:lnSpc>
            </a:pPr>
            <a:r>
              <a:rPr lang="en-US" sz="1700" b="true">
                <a:solidFill>
                  <a:srgbClr val="5A6478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Open Food Facts: 2017, computed target</a:t>
            </a:r>
          </a:p>
          <a:p>
            <a:pPr algn="l">
              <a:lnSpc>
                <a:spcPts val="2040"/>
              </a:lnSpc>
            </a:pPr>
            <a:r>
              <a:rPr lang="en-US" sz="1700" b="true">
                <a:solidFill>
                  <a:srgbClr val="233457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Airbnb London: 92,638 rows, 2026, guest ratings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7653528" y="6492240"/>
            <a:ext cx="3127248" cy="3154680"/>
            <a:chOff x="0" y="0"/>
            <a:chExt cx="4169664" cy="420624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4169664" cy="4206240"/>
            </a:xfrm>
            <a:custGeom>
              <a:avLst/>
              <a:gdLst/>
              <a:ahLst/>
              <a:cxnLst/>
              <a:rect r="r" b="b" t="t" l="l"/>
              <a:pathLst>
                <a:path h="4206240" w="4169664">
                  <a:moveTo>
                    <a:pt x="0" y="333629"/>
                  </a:moveTo>
                  <a:cubicBezTo>
                    <a:pt x="0" y="149352"/>
                    <a:pt x="149352" y="0"/>
                    <a:pt x="333629" y="0"/>
                  </a:cubicBezTo>
                  <a:lnTo>
                    <a:pt x="3836035" y="0"/>
                  </a:lnTo>
                  <a:cubicBezTo>
                    <a:pt x="4020312" y="0"/>
                    <a:pt x="4169664" y="149352"/>
                    <a:pt x="4169664" y="333629"/>
                  </a:cubicBezTo>
                  <a:lnTo>
                    <a:pt x="4169664" y="3872611"/>
                  </a:lnTo>
                  <a:cubicBezTo>
                    <a:pt x="4169664" y="4056888"/>
                    <a:pt x="4020312" y="4206240"/>
                    <a:pt x="3836035" y="4206240"/>
                  </a:cubicBezTo>
                  <a:lnTo>
                    <a:pt x="333629" y="4206240"/>
                  </a:lnTo>
                  <a:cubicBezTo>
                    <a:pt x="149352" y="4206240"/>
                    <a:pt x="0" y="4056888"/>
                    <a:pt x="0" y="3872611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24" id="24"/>
          <p:cNvSpPr txBox="true"/>
          <p:nvPr/>
        </p:nvSpPr>
        <p:spPr>
          <a:xfrm rot="0">
            <a:off x="7946136" y="6721907"/>
            <a:ext cx="2542032" cy="26762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 b="true">
                <a:solidFill>
                  <a:srgbClr val="D32128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WHY IT'S MESSY</a:t>
            </a:r>
          </a:p>
          <a:p>
            <a:pPr algn="l">
              <a:lnSpc>
                <a:spcPts val="2279"/>
              </a:lnSpc>
            </a:pPr>
            <a:r>
              <a:rPr lang="en-US" sz="1899" b="true">
                <a:solidFill>
                  <a:srgbClr val="233457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14 empty columns</a:t>
            </a:r>
          </a:p>
          <a:p>
            <a:pPr algn="l">
              <a:lnSpc>
                <a:spcPts val="2279"/>
              </a:lnSpc>
            </a:pPr>
            <a:r>
              <a:rPr lang="en-US" sz="1899" b="true">
                <a:solidFill>
                  <a:srgbClr val="233457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Price stored as text</a:t>
            </a:r>
          </a:p>
          <a:p>
            <a:pPr algn="l">
              <a:lnSpc>
                <a:spcPts val="2279"/>
              </a:lnSpc>
            </a:pPr>
            <a:r>
              <a:rPr lang="en-US" sz="1899" b="true">
                <a:solidFill>
                  <a:srgbClr val="233457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33% of prices missing</a:t>
            </a:r>
          </a:p>
          <a:p>
            <a:pPr algn="l">
              <a:lnSpc>
                <a:spcPts val="2279"/>
              </a:lnSpc>
            </a:pPr>
            <a:r>
              <a:rPr lang="en-US" sz="1899" b="true">
                <a:solidFill>
                  <a:srgbClr val="233457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Hidden placeholders</a:t>
            </a:r>
          </a:p>
          <a:p>
            <a:pPr algn="l">
              <a:lnSpc>
                <a:spcPts val="2279"/>
              </a:lnSpc>
            </a:pPr>
            <a:r>
              <a:rPr lang="en-US" sz="1899" b="true">
                <a:solidFill>
                  <a:srgbClr val="233457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24% of listings unrated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11247120" y="2880360"/>
            <a:ext cx="5989320" cy="2103120"/>
            <a:chOff x="0" y="0"/>
            <a:chExt cx="7985760" cy="280416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7985760" cy="2804160"/>
            </a:xfrm>
            <a:custGeom>
              <a:avLst/>
              <a:gdLst/>
              <a:ahLst/>
              <a:cxnLst/>
              <a:rect r="r" b="b" t="t" l="l"/>
              <a:pathLst>
                <a:path h="2804160" w="7985760">
                  <a:moveTo>
                    <a:pt x="0" y="224282"/>
                  </a:moveTo>
                  <a:cubicBezTo>
                    <a:pt x="0" y="100457"/>
                    <a:pt x="100457" y="0"/>
                    <a:pt x="224282" y="0"/>
                  </a:cubicBezTo>
                  <a:lnTo>
                    <a:pt x="7761478" y="0"/>
                  </a:lnTo>
                  <a:cubicBezTo>
                    <a:pt x="7885430" y="0"/>
                    <a:pt x="7985760" y="100457"/>
                    <a:pt x="7985760" y="224282"/>
                  </a:cubicBezTo>
                  <a:lnTo>
                    <a:pt x="7985760" y="2579878"/>
                  </a:lnTo>
                  <a:cubicBezTo>
                    <a:pt x="7985760" y="2703830"/>
                    <a:pt x="7885303" y="2804160"/>
                    <a:pt x="7761478" y="2804160"/>
                  </a:cubicBezTo>
                  <a:lnTo>
                    <a:pt x="224282" y="2804160"/>
                  </a:lnTo>
                  <a:cubicBezTo>
                    <a:pt x="100457" y="2804160"/>
                    <a:pt x="0" y="2703703"/>
                    <a:pt x="0" y="2579878"/>
                  </a:cubicBezTo>
                  <a:close/>
                </a:path>
              </a:pathLst>
            </a:custGeom>
            <a:solidFill>
              <a:srgbClr val="233457"/>
            </a:solidFill>
          </p:spPr>
        </p:sp>
      </p:grpSp>
      <p:sp>
        <p:nvSpPr>
          <p:cNvPr name="TextBox 27" id="27"/>
          <p:cNvSpPr txBox="true"/>
          <p:nvPr/>
        </p:nvSpPr>
        <p:spPr>
          <a:xfrm rot="0">
            <a:off x="11539728" y="3110027"/>
            <a:ext cx="5404104" cy="16247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 b="true">
                <a:solidFill>
                  <a:srgbClr val="A4D1E4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SOURCE</a:t>
            </a:r>
          </a:p>
          <a:p>
            <a:pPr algn="l">
              <a:lnSpc>
                <a:spcPts val="2639"/>
              </a:lnSpc>
            </a:pPr>
            <a:r>
              <a:rPr lang="en-US" sz="2199" b="true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Inside Airbnb, London</a:t>
            </a:r>
          </a:p>
          <a:p>
            <a:pPr algn="l">
              <a:lnSpc>
                <a:spcPts val="1919"/>
              </a:lnSpc>
            </a:pPr>
            <a:r>
              <a:rPr lang="en-US" sz="1599" b="true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Snapshot 19 June 2026 · listings.csv.gz · prices in GBP</a:t>
            </a:r>
          </a:p>
          <a:p>
            <a:pPr algn="l">
              <a:lnSpc>
                <a:spcPts val="2040"/>
              </a:lnSpc>
            </a:pPr>
            <a:r>
              <a:rPr lang="en-US" sz="1700" b="true">
                <a:solidFill>
                  <a:srgbClr val="A4D1E4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insideairbnb.com/get-the-data</a:t>
            </a:r>
          </a:p>
        </p:txBody>
      </p:sp>
      <p:grpSp>
        <p:nvGrpSpPr>
          <p:cNvPr name="Group 28" id="28"/>
          <p:cNvGrpSpPr/>
          <p:nvPr/>
        </p:nvGrpSpPr>
        <p:grpSpPr>
          <a:xfrm rot="0">
            <a:off x="11247120" y="5166360"/>
            <a:ext cx="5989320" cy="4480560"/>
            <a:chOff x="0" y="0"/>
            <a:chExt cx="7985760" cy="597408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7985760" cy="5974080"/>
            </a:xfrm>
            <a:custGeom>
              <a:avLst/>
              <a:gdLst/>
              <a:ahLst/>
              <a:cxnLst/>
              <a:rect r="r" b="b" t="t" l="l"/>
              <a:pathLst>
                <a:path h="5974080" w="7985760">
                  <a:moveTo>
                    <a:pt x="0" y="477901"/>
                  </a:moveTo>
                  <a:cubicBezTo>
                    <a:pt x="0" y="213995"/>
                    <a:pt x="213995" y="0"/>
                    <a:pt x="477901" y="0"/>
                  </a:cubicBezTo>
                  <a:lnTo>
                    <a:pt x="7507859" y="0"/>
                  </a:lnTo>
                  <a:cubicBezTo>
                    <a:pt x="7771765" y="0"/>
                    <a:pt x="7985760" y="213995"/>
                    <a:pt x="7985760" y="477901"/>
                  </a:cubicBezTo>
                  <a:lnTo>
                    <a:pt x="7985760" y="5496179"/>
                  </a:lnTo>
                  <a:cubicBezTo>
                    <a:pt x="7985760" y="5760085"/>
                    <a:pt x="7771765" y="5974080"/>
                    <a:pt x="7507859" y="5974080"/>
                  </a:cubicBezTo>
                  <a:lnTo>
                    <a:pt x="477901" y="5974080"/>
                  </a:lnTo>
                  <a:cubicBezTo>
                    <a:pt x="213995" y="5974080"/>
                    <a:pt x="0" y="5760085"/>
                    <a:pt x="0" y="5496179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30" id="30"/>
          <p:cNvSpPr txBox="true"/>
          <p:nvPr/>
        </p:nvSpPr>
        <p:spPr>
          <a:xfrm rot="0">
            <a:off x="11539728" y="5396027"/>
            <a:ext cx="5404104" cy="40021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9"/>
              </a:lnSpc>
            </a:pPr>
            <a:r>
              <a:rPr lang="en-US" sz="2199" b="true">
                <a:solidFill>
                  <a:srgbClr val="D32128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RAW RECORDS: 3 EXAMPLE ROWS</a:t>
            </a:r>
          </a:p>
        </p:txBody>
      </p:sp>
      <p:grpSp>
        <p:nvGrpSpPr>
          <p:cNvPr name="Group 31" id="31"/>
          <p:cNvGrpSpPr/>
          <p:nvPr/>
        </p:nvGrpSpPr>
        <p:grpSpPr>
          <a:xfrm rot="0">
            <a:off x="11539728" y="5897880"/>
            <a:ext cx="5404104" cy="2378726"/>
            <a:chOff x="0" y="0"/>
            <a:chExt cx="7205472" cy="3171634"/>
          </a:xfrm>
        </p:grpSpPr>
        <p:sp>
          <p:nvSpPr>
            <p:cNvPr name="Freeform 32" id="32" descr="table_crop.png"/>
            <p:cNvSpPr/>
            <p:nvPr/>
          </p:nvSpPr>
          <p:spPr>
            <a:xfrm flipH="false" flipV="false" rot="0">
              <a:off x="0" y="0"/>
              <a:ext cx="7205472" cy="3171698"/>
            </a:xfrm>
            <a:custGeom>
              <a:avLst/>
              <a:gdLst/>
              <a:ahLst/>
              <a:cxnLst/>
              <a:rect r="r" b="b" t="t" l="l"/>
              <a:pathLst>
                <a:path h="3171698" w="7205472">
                  <a:moveTo>
                    <a:pt x="0" y="0"/>
                  </a:moveTo>
                  <a:lnTo>
                    <a:pt x="7205472" y="0"/>
                  </a:lnTo>
                  <a:lnTo>
                    <a:pt x="7205472" y="3171698"/>
                  </a:lnTo>
                  <a:lnTo>
                    <a:pt x="0" y="317169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2"/>
              </a:stretch>
            </a:blipFill>
          </p:spPr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EEE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962025"/>
            <a:ext cx="2240280" cy="4817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94"/>
              </a:lnSpc>
            </a:pPr>
            <a:r>
              <a:rPr lang="en-US" sz="2781" b="true">
                <a:solidFill>
                  <a:srgbClr val="D32128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Data cleaning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1799641"/>
            <a:ext cx="13718381" cy="7835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86"/>
              </a:lnSpc>
            </a:pPr>
            <a:r>
              <a:rPr lang="en-US" sz="5963" b="true">
                <a:solidFill>
                  <a:srgbClr val="233457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4 DECISIONS, EACH WITH A REASON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2468880" y="3611880"/>
            <a:ext cx="14538960" cy="54864"/>
            <a:chOff x="0" y="0"/>
            <a:chExt cx="19385280" cy="73152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9385280" cy="73152"/>
            </a:xfrm>
            <a:custGeom>
              <a:avLst/>
              <a:gdLst/>
              <a:ahLst/>
              <a:cxnLst/>
              <a:rect r="r" b="b" t="t" l="l"/>
              <a:pathLst>
                <a:path h="73152" w="19385280">
                  <a:moveTo>
                    <a:pt x="0" y="0"/>
                  </a:moveTo>
                  <a:lnTo>
                    <a:pt x="19385280" y="0"/>
                  </a:lnTo>
                  <a:lnTo>
                    <a:pt x="19385280" y="73152"/>
                  </a:lnTo>
                  <a:lnTo>
                    <a:pt x="0" y="73152"/>
                  </a:lnTo>
                  <a:close/>
                </a:path>
              </a:pathLst>
            </a:custGeom>
            <a:solidFill>
              <a:srgbClr val="233457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024128" y="4645152"/>
            <a:ext cx="1417320" cy="658368"/>
            <a:chOff x="0" y="0"/>
            <a:chExt cx="1889760" cy="87782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889760" cy="877824"/>
            </a:xfrm>
            <a:custGeom>
              <a:avLst/>
              <a:gdLst/>
              <a:ahLst/>
              <a:cxnLst/>
              <a:rect r="r" b="b" t="t" l="l"/>
              <a:pathLst>
                <a:path h="877824" w="1889760">
                  <a:moveTo>
                    <a:pt x="0" y="0"/>
                  </a:moveTo>
                  <a:lnTo>
                    <a:pt x="1889760" y="0"/>
                  </a:lnTo>
                  <a:lnTo>
                    <a:pt x="1889760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9599" t="0" r="-9599" b="0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19050"/>
              <a:ext cx="1889760" cy="89687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19"/>
                </a:lnSpc>
              </a:pPr>
              <a:r>
                <a:rPr lang="en-US" sz="1599" b="true">
                  <a:solidFill>
                    <a:srgbClr val="D32128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ISSUE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024128" y="5294376"/>
            <a:ext cx="16212312" cy="13716"/>
            <a:chOff x="0" y="0"/>
            <a:chExt cx="21616416" cy="18288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1616415" cy="18288"/>
            </a:xfrm>
            <a:custGeom>
              <a:avLst/>
              <a:gdLst/>
              <a:ahLst/>
              <a:cxnLst/>
              <a:rect r="r" b="b" t="t" l="l"/>
              <a:pathLst>
                <a:path h="18288" w="21616415">
                  <a:moveTo>
                    <a:pt x="0" y="0"/>
                  </a:moveTo>
                  <a:lnTo>
                    <a:pt x="21616415" y="0"/>
                  </a:lnTo>
                  <a:lnTo>
                    <a:pt x="21616415" y="18288"/>
                  </a:lnTo>
                  <a:lnTo>
                    <a:pt x="0" y="18288"/>
                  </a:lnTo>
                  <a:close/>
                </a:path>
              </a:pathLst>
            </a:custGeom>
            <a:solidFill>
              <a:srgbClr val="C9CED8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1024128" y="5303520"/>
            <a:ext cx="1417320" cy="658368"/>
            <a:chOff x="0" y="0"/>
            <a:chExt cx="1889760" cy="877824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889760" cy="877824"/>
            </a:xfrm>
            <a:custGeom>
              <a:avLst/>
              <a:gdLst/>
              <a:ahLst/>
              <a:cxnLst/>
              <a:rect r="r" b="b" t="t" l="l"/>
              <a:pathLst>
                <a:path h="877824" w="1889760">
                  <a:moveTo>
                    <a:pt x="0" y="0"/>
                  </a:moveTo>
                  <a:lnTo>
                    <a:pt x="1889760" y="0"/>
                  </a:lnTo>
                  <a:lnTo>
                    <a:pt x="1889760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9599" t="0" r="-9599" b="0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19050"/>
              <a:ext cx="1889760" cy="89687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19"/>
                </a:lnSpc>
              </a:pPr>
              <a:r>
                <a:rPr lang="en-US" sz="1599" b="true">
                  <a:solidFill>
                    <a:srgbClr val="D32128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DECISION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024128" y="5952744"/>
            <a:ext cx="16212312" cy="13716"/>
            <a:chOff x="0" y="0"/>
            <a:chExt cx="21616416" cy="18288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1616415" cy="18288"/>
            </a:xfrm>
            <a:custGeom>
              <a:avLst/>
              <a:gdLst/>
              <a:ahLst/>
              <a:cxnLst/>
              <a:rect r="r" b="b" t="t" l="l"/>
              <a:pathLst>
                <a:path h="18288" w="21616415">
                  <a:moveTo>
                    <a:pt x="0" y="0"/>
                  </a:moveTo>
                  <a:lnTo>
                    <a:pt x="21616415" y="0"/>
                  </a:lnTo>
                  <a:lnTo>
                    <a:pt x="21616415" y="18288"/>
                  </a:lnTo>
                  <a:lnTo>
                    <a:pt x="0" y="18288"/>
                  </a:lnTo>
                  <a:close/>
                </a:path>
              </a:pathLst>
            </a:custGeom>
            <a:solidFill>
              <a:srgbClr val="C9CED8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024128" y="5961888"/>
            <a:ext cx="1417320" cy="658368"/>
            <a:chOff x="0" y="0"/>
            <a:chExt cx="1889760" cy="877824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889760" cy="877824"/>
            </a:xfrm>
            <a:custGeom>
              <a:avLst/>
              <a:gdLst/>
              <a:ahLst/>
              <a:cxnLst/>
              <a:rect r="r" b="b" t="t" l="l"/>
              <a:pathLst>
                <a:path h="877824" w="1889760">
                  <a:moveTo>
                    <a:pt x="0" y="0"/>
                  </a:moveTo>
                  <a:lnTo>
                    <a:pt x="1889760" y="0"/>
                  </a:lnTo>
                  <a:lnTo>
                    <a:pt x="1889760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9599" t="0" r="-9599" b="0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19050"/>
              <a:ext cx="1889760" cy="89687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19"/>
                </a:lnSpc>
              </a:pPr>
              <a:r>
                <a:rPr lang="en-US" sz="1599" b="true">
                  <a:solidFill>
                    <a:srgbClr val="D32128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BECAUSE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024128" y="6611112"/>
            <a:ext cx="16212312" cy="13716"/>
            <a:chOff x="0" y="0"/>
            <a:chExt cx="21616416" cy="18288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21616415" cy="18288"/>
            </a:xfrm>
            <a:custGeom>
              <a:avLst/>
              <a:gdLst/>
              <a:ahLst/>
              <a:cxnLst/>
              <a:rect r="r" b="b" t="t" l="l"/>
              <a:pathLst>
                <a:path h="18288" w="21616415">
                  <a:moveTo>
                    <a:pt x="0" y="0"/>
                  </a:moveTo>
                  <a:lnTo>
                    <a:pt x="21616415" y="0"/>
                  </a:lnTo>
                  <a:lnTo>
                    <a:pt x="21616415" y="18288"/>
                  </a:lnTo>
                  <a:lnTo>
                    <a:pt x="0" y="18288"/>
                  </a:lnTo>
                  <a:close/>
                </a:path>
              </a:pathLst>
            </a:custGeom>
            <a:solidFill>
              <a:srgbClr val="C9CED8"/>
            </a:solid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3383280" y="2697480"/>
            <a:ext cx="1828800" cy="1828800"/>
            <a:chOff x="0" y="0"/>
            <a:chExt cx="2438400" cy="24384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2438400" cy="2438400"/>
            </a:xfrm>
            <a:custGeom>
              <a:avLst/>
              <a:gdLst/>
              <a:ahLst/>
              <a:cxnLst/>
              <a:rect r="r" b="b" t="t" l="l"/>
              <a:pathLst>
                <a:path h="2438400" w="2438400">
                  <a:moveTo>
                    <a:pt x="0" y="1219200"/>
                  </a:moveTo>
                  <a:cubicBezTo>
                    <a:pt x="0" y="545846"/>
                    <a:pt x="545846" y="0"/>
                    <a:pt x="1219200" y="0"/>
                  </a:cubicBezTo>
                  <a:cubicBezTo>
                    <a:pt x="1892554" y="0"/>
                    <a:pt x="2438400" y="545846"/>
                    <a:pt x="2438400" y="1219200"/>
                  </a:cubicBezTo>
                  <a:cubicBezTo>
                    <a:pt x="2438400" y="1892554"/>
                    <a:pt x="1892554" y="2438400"/>
                    <a:pt x="1219200" y="2438400"/>
                  </a:cubicBezTo>
                  <a:cubicBezTo>
                    <a:pt x="545846" y="2438400"/>
                    <a:pt x="0" y="1892554"/>
                    <a:pt x="0" y="1219200"/>
                  </a:cubicBezTo>
                  <a:close/>
                </a:path>
              </a:pathLst>
            </a:custGeom>
            <a:solidFill>
              <a:srgbClr val="D32128"/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19050"/>
              <a:ext cx="2438400" cy="24574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00"/>
                </a:lnSpc>
              </a:pPr>
              <a:r>
                <a:rPr lang="en-US" sz="1500" b="true">
                  <a:solidFill>
                    <a:srgbClr val="FFFFFF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1</a:t>
              </a:r>
            </a:p>
            <a:p>
              <a:pPr algn="ctr">
                <a:lnSpc>
                  <a:spcPts val="2040"/>
                </a:lnSpc>
              </a:pPr>
              <a:r>
                <a:rPr lang="en-US" sz="1700" b="true">
                  <a:solidFill>
                    <a:srgbClr val="FFFFFF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DROP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2514600" y="4645152"/>
            <a:ext cx="3566160" cy="658368"/>
            <a:chOff x="0" y="0"/>
            <a:chExt cx="4754880" cy="877824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4754880" cy="877824"/>
            </a:xfrm>
            <a:custGeom>
              <a:avLst/>
              <a:gdLst/>
              <a:ahLst/>
              <a:cxnLst/>
              <a:rect r="r" b="b" t="t" l="l"/>
              <a:pathLst>
                <a:path h="877824" w="4754880">
                  <a:moveTo>
                    <a:pt x="0" y="0"/>
                  </a:moveTo>
                  <a:lnTo>
                    <a:pt x="4754880" y="0"/>
                  </a:lnTo>
                  <a:lnTo>
                    <a:pt x="4754880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5543" r="0" b="-55543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19050"/>
              <a:ext cx="4754880" cy="89687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40"/>
                </a:lnSpc>
              </a:pPr>
              <a:r>
                <a:rPr lang="en-US" sz="1700" b="true">
                  <a:solidFill>
                    <a:srgbClr val="233457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14 columns 100% empty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2514600" y="5303520"/>
            <a:ext cx="3566160" cy="658368"/>
            <a:chOff x="0" y="0"/>
            <a:chExt cx="4754880" cy="877824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4754880" cy="877824"/>
            </a:xfrm>
            <a:custGeom>
              <a:avLst/>
              <a:gdLst/>
              <a:ahLst/>
              <a:cxnLst/>
              <a:rect r="r" b="b" t="t" l="l"/>
              <a:pathLst>
                <a:path h="877824" w="4754880">
                  <a:moveTo>
                    <a:pt x="0" y="0"/>
                  </a:moveTo>
                  <a:lnTo>
                    <a:pt x="4754880" y="0"/>
                  </a:lnTo>
                  <a:lnTo>
                    <a:pt x="4754880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5543" r="0" b="-55543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19050"/>
              <a:ext cx="4754880" cy="89687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40"/>
                </a:lnSpc>
              </a:pPr>
              <a:r>
                <a:rPr lang="en-US" sz="1700" b="true">
                  <a:solidFill>
                    <a:srgbClr val="233457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Dropped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2514600" y="5961888"/>
            <a:ext cx="3566160" cy="658368"/>
            <a:chOff x="0" y="0"/>
            <a:chExt cx="4754880" cy="877824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4754880" cy="877824"/>
            </a:xfrm>
            <a:custGeom>
              <a:avLst/>
              <a:gdLst/>
              <a:ahLst/>
              <a:cxnLst/>
              <a:rect r="r" b="b" t="t" l="l"/>
              <a:pathLst>
                <a:path h="877824" w="4754880">
                  <a:moveTo>
                    <a:pt x="0" y="0"/>
                  </a:moveTo>
                  <a:lnTo>
                    <a:pt x="4754880" y="0"/>
                  </a:lnTo>
                  <a:lnTo>
                    <a:pt x="4754880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5543" r="0" b="-55543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19050"/>
              <a:ext cx="4754880" cy="89687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0"/>
                </a:lnSpc>
              </a:pPr>
              <a:r>
                <a:rPr lang="en-US" sz="1500" b="true">
                  <a:solidFill>
                    <a:srgbClr val="5A6478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No values in this snapshot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7040880" y="2697480"/>
            <a:ext cx="1828800" cy="1828800"/>
            <a:chOff x="0" y="0"/>
            <a:chExt cx="2438400" cy="243840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2438400" cy="2438400"/>
            </a:xfrm>
            <a:custGeom>
              <a:avLst/>
              <a:gdLst/>
              <a:ahLst/>
              <a:cxnLst/>
              <a:rect r="r" b="b" t="t" l="l"/>
              <a:pathLst>
                <a:path h="2438400" w="2438400">
                  <a:moveTo>
                    <a:pt x="0" y="1219200"/>
                  </a:moveTo>
                  <a:cubicBezTo>
                    <a:pt x="0" y="545846"/>
                    <a:pt x="545846" y="0"/>
                    <a:pt x="1219200" y="0"/>
                  </a:cubicBezTo>
                  <a:cubicBezTo>
                    <a:pt x="1892554" y="0"/>
                    <a:pt x="2438400" y="545846"/>
                    <a:pt x="2438400" y="1219200"/>
                  </a:cubicBezTo>
                  <a:cubicBezTo>
                    <a:pt x="2438400" y="1892554"/>
                    <a:pt x="1892554" y="2438400"/>
                    <a:pt x="1219200" y="2438400"/>
                  </a:cubicBezTo>
                  <a:cubicBezTo>
                    <a:pt x="545846" y="2438400"/>
                    <a:pt x="0" y="1892554"/>
                    <a:pt x="0" y="1219200"/>
                  </a:cubicBezTo>
                  <a:close/>
                </a:path>
              </a:pathLst>
            </a:custGeom>
            <a:solidFill>
              <a:srgbClr val="233457"/>
            </a:solid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19050"/>
              <a:ext cx="2438400" cy="24574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00"/>
                </a:lnSpc>
              </a:pPr>
              <a:r>
                <a:rPr lang="en-US" sz="1500" b="true">
                  <a:solidFill>
                    <a:srgbClr val="FFFFFF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2</a:t>
              </a:r>
            </a:p>
            <a:p>
              <a:pPr algn="ctr">
                <a:lnSpc>
                  <a:spcPts val="2040"/>
                </a:lnSpc>
              </a:pPr>
              <a:r>
                <a:rPr lang="en-US" sz="1700" b="true">
                  <a:solidFill>
                    <a:srgbClr val="FFFFFF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CONVERT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6172200" y="4645152"/>
            <a:ext cx="3566160" cy="658368"/>
            <a:chOff x="0" y="0"/>
            <a:chExt cx="4754880" cy="877824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4754880" cy="877824"/>
            </a:xfrm>
            <a:custGeom>
              <a:avLst/>
              <a:gdLst/>
              <a:ahLst/>
              <a:cxnLst/>
              <a:rect r="r" b="b" t="t" l="l"/>
              <a:pathLst>
                <a:path h="877824" w="4754880">
                  <a:moveTo>
                    <a:pt x="0" y="0"/>
                  </a:moveTo>
                  <a:lnTo>
                    <a:pt x="4754880" y="0"/>
                  </a:lnTo>
                  <a:lnTo>
                    <a:pt x="4754880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5543" r="0" b="-55543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19050"/>
              <a:ext cx="4754880" cy="89687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40"/>
                </a:lnSpc>
              </a:pPr>
              <a:r>
                <a:rPr lang="en-US" sz="1700" b="true">
                  <a:solidFill>
                    <a:srgbClr val="233457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Price stored as text ("$127.00")</a:t>
              </a: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6172200" y="5303520"/>
            <a:ext cx="3566160" cy="658368"/>
            <a:chOff x="0" y="0"/>
            <a:chExt cx="4754880" cy="877824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4754880" cy="877824"/>
            </a:xfrm>
            <a:custGeom>
              <a:avLst/>
              <a:gdLst/>
              <a:ahLst/>
              <a:cxnLst/>
              <a:rect r="r" b="b" t="t" l="l"/>
              <a:pathLst>
                <a:path h="877824" w="4754880">
                  <a:moveTo>
                    <a:pt x="0" y="0"/>
                  </a:moveTo>
                  <a:lnTo>
                    <a:pt x="4754880" y="0"/>
                  </a:lnTo>
                  <a:lnTo>
                    <a:pt x="4754880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5543" r="0" b="-55543"/>
              </a:stretch>
            </a:blip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19050"/>
              <a:ext cx="4754880" cy="89687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40"/>
                </a:lnSpc>
              </a:pPr>
              <a:r>
                <a:rPr lang="en-US" sz="1700" b="true">
                  <a:solidFill>
                    <a:srgbClr val="233457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Converted to a number</a:t>
              </a: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6172200" y="5961888"/>
            <a:ext cx="3566160" cy="658368"/>
            <a:chOff x="0" y="0"/>
            <a:chExt cx="4754880" cy="877824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4754880" cy="877824"/>
            </a:xfrm>
            <a:custGeom>
              <a:avLst/>
              <a:gdLst/>
              <a:ahLst/>
              <a:cxnLst/>
              <a:rect r="r" b="b" t="t" l="l"/>
              <a:pathLst>
                <a:path h="877824" w="4754880">
                  <a:moveTo>
                    <a:pt x="0" y="0"/>
                  </a:moveTo>
                  <a:lnTo>
                    <a:pt x="4754880" y="0"/>
                  </a:lnTo>
                  <a:lnTo>
                    <a:pt x="4754880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5543" r="0" b="-55543"/>
              </a:stretch>
            </a:blipFill>
          </p:spPr>
        </p:sp>
        <p:sp>
          <p:nvSpPr>
            <p:cNvPr name="TextBox 44" id="44"/>
            <p:cNvSpPr txBox="true"/>
            <p:nvPr/>
          </p:nvSpPr>
          <p:spPr>
            <a:xfrm>
              <a:off x="0" y="-19050"/>
              <a:ext cx="4754880" cy="89687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0"/>
                </a:lnSpc>
              </a:pPr>
              <a:r>
                <a:rPr lang="en-US" sz="1500" b="true">
                  <a:solidFill>
                    <a:srgbClr val="5A6478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Text cannot be charted or modelled</a:t>
              </a: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10698480" y="2697480"/>
            <a:ext cx="1828800" cy="1828800"/>
            <a:chOff x="0" y="0"/>
            <a:chExt cx="2438400" cy="243840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2438400" cy="2438400"/>
            </a:xfrm>
            <a:custGeom>
              <a:avLst/>
              <a:gdLst/>
              <a:ahLst/>
              <a:cxnLst/>
              <a:rect r="r" b="b" t="t" l="l"/>
              <a:pathLst>
                <a:path h="2438400" w="2438400">
                  <a:moveTo>
                    <a:pt x="0" y="1219200"/>
                  </a:moveTo>
                  <a:cubicBezTo>
                    <a:pt x="0" y="545846"/>
                    <a:pt x="545846" y="0"/>
                    <a:pt x="1219200" y="0"/>
                  </a:cubicBezTo>
                  <a:cubicBezTo>
                    <a:pt x="1892554" y="0"/>
                    <a:pt x="2438400" y="545846"/>
                    <a:pt x="2438400" y="1219200"/>
                  </a:cubicBezTo>
                  <a:cubicBezTo>
                    <a:pt x="2438400" y="1892554"/>
                    <a:pt x="1892554" y="2438400"/>
                    <a:pt x="1219200" y="2438400"/>
                  </a:cubicBezTo>
                  <a:cubicBezTo>
                    <a:pt x="545846" y="2438400"/>
                    <a:pt x="0" y="1892554"/>
                    <a:pt x="0" y="1219200"/>
                  </a:cubicBezTo>
                  <a:close/>
                </a:path>
              </a:pathLst>
            </a:custGeom>
            <a:solidFill>
              <a:srgbClr val="A4D1E4"/>
            </a:solidFill>
          </p:spPr>
        </p:sp>
        <p:sp>
          <p:nvSpPr>
            <p:cNvPr name="TextBox 47" id="47"/>
            <p:cNvSpPr txBox="true"/>
            <p:nvPr/>
          </p:nvSpPr>
          <p:spPr>
            <a:xfrm>
              <a:off x="0" y="-19050"/>
              <a:ext cx="2438400" cy="24574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00"/>
                </a:lnSpc>
              </a:pPr>
              <a:r>
                <a:rPr lang="en-US" sz="1500" b="true">
                  <a:solidFill>
                    <a:srgbClr val="233457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3</a:t>
              </a:r>
            </a:p>
            <a:p>
              <a:pPr algn="ctr">
                <a:lnSpc>
                  <a:spcPts val="2040"/>
                </a:lnSpc>
              </a:pPr>
              <a:r>
                <a:rPr lang="en-US" sz="1700" b="true">
                  <a:solidFill>
                    <a:srgbClr val="233457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CAP</a:t>
              </a: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9829800" y="4645152"/>
            <a:ext cx="3566160" cy="658368"/>
            <a:chOff x="0" y="0"/>
            <a:chExt cx="4754880" cy="877824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4754880" cy="877824"/>
            </a:xfrm>
            <a:custGeom>
              <a:avLst/>
              <a:gdLst/>
              <a:ahLst/>
              <a:cxnLst/>
              <a:rect r="r" b="b" t="t" l="l"/>
              <a:pathLst>
                <a:path h="877824" w="4754880">
                  <a:moveTo>
                    <a:pt x="0" y="0"/>
                  </a:moveTo>
                  <a:lnTo>
                    <a:pt x="4754880" y="0"/>
                  </a:lnTo>
                  <a:lnTo>
                    <a:pt x="4754880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5543" r="0" b="-55543"/>
              </a:stretch>
            </a:blipFill>
          </p:spPr>
        </p:sp>
        <p:sp>
          <p:nvSpPr>
            <p:cNvPr name="TextBox 50" id="50"/>
            <p:cNvSpPr txBox="true"/>
            <p:nvPr/>
          </p:nvSpPr>
          <p:spPr>
            <a:xfrm>
              <a:off x="0" y="-19050"/>
              <a:ext cx="4754880" cy="89687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40"/>
                </a:lnSpc>
              </a:pPr>
              <a:r>
                <a:rPr lang="en-US" sz="1700" b="true">
                  <a:solidFill>
                    <a:srgbClr val="233457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£527,524 price; rating 0; 2,147,483,647 nights</a:t>
              </a:r>
            </a:p>
          </p:txBody>
        </p:sp>
      </p:grpSp>
      <p:grpSp>
        <p:nvGrpSpPr>
          <p:cNvPr name="Group 51" id="51"/>
          <p:cNvGrpSpPr/>
          <p:nvPr/>
        </p:nvGrpSpPr>
        <p:grpSpPr>
          <a:xfrm rot="0">
            <a:off x="9829800" y="5303520"/>
            <a:ext cx="3566160" cy="658368"/>
            <a:chOff x="0" y="0"/>
            <a:chExt cx="4754880" cy="877824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4754880" cy="877824"/>
            </a:xfrm>
            <a:custGeom>
              <a:avLst/>
              <a:gdLst/>
              <a:ahLst/>
              <a:cxnLst/>
              <a:rect r="r" b="b" t="t" l="l"/>
              <a:pathLst>
                <a:path h="877824" w="4754880">
                  <a:moveTo>
                    <a:pt x="0" y="0"/>
                  </a:moveTo>
                  <a:lnTo>
                    <a:pt x="4754880" y="0"/>
                  </a:lnTo>
                  <a:lnTo>
                    <a:pt x="4754880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5543" r="0" b="-55543"/>
              </a:stretch>
            </a:blipFill>
          </p:spPr>
        </p:sp>
        <p:sp>
          <p:nvSpPr>
            <p:cNvPr name="TextBox 53" id="53"/>
            <p:cNvSpPr txBox="true"/>
            <p:nvPr/>
          </p:nvSpPr>
          <p:spPr>
            <a:xfrm>
              <a:off x="0" y="-19050"/>
              <a:ext cx="4754880" cy="89687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40"/>
                </a:lnSpc>
              </a:pPr>
              <a:r>
                <a:rPr lang="en-US" sz="1700" b="true">
                  <a:solidFill>
                    <a:srgbClr val="233457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Capped at £1,373 (new column); placeholders → missing</a:t>
              </a:r>
            </a:p>
          </p:txBody>
        </p:sp>
      </p:grpSp>
      <p:grpSp>
        <p:nvGrpSpPr>
          <p:cNvPr name="Group 54" id="54"/>
          <p:cNvGrpSpPr/>
          <p:nvPr/>
        </p:nvGrpSpPr>
        <p:grpSpPr>
          <a:xfrm rot="0">
            <a:off x="9829800" y="5961888"/>
            <a:ext cx="3566160" cy="658368"/>
            <a:chOff x="0" y="0"/>
            <a:chExt cx="4754880" cy="877824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4754880" cy="877824"/>
            </a:xfrm>
            <a:custGeom>
              <a:avLst/>
              <a:gdLst/>
              <a:ahLst/>
              <a:cxnLst/>
              <a:rect r="r" b="b" t="t" l="l"/>
              <a:pathLst>
                <a:path h="877824" w="4754880">
                  <a:moveTo>
                    <a:pt x="0" y="0"/>
                  </a:moveTo>
                  <a:lnTo>
                    <a:pt x="4754880" y="0"/>
                  </a:lnTo>
                  <a:lnTo>
                    <a:pt x="4754880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5543" r="0" b="-55543"/>
              </a:stretch>
            </a:blipFill>
          </p:spPr>
        </p:sp>
        <p:sp>
          <p:nvSpPr>
            <p:cNvPr name="TextBox 56" id="56"/>
            <p:cNvSpPr txBox="true"/>
            <p:nvPr/>
          </p:nvSpPr>
          <p:spPr>
            <a:xfrm>
              <a:off x="0" y="-19050"/>
              <a:ext cx="4754880" cy="89687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0"/>
                </a:lnSpc>
              </a:pPr>
              <a:r>
                <a:rPr lang="en-US" sz="1500" b="true">
                  <a:solidFill>
                    <a:srgbClr val="5A6478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Entry errors and placeholders, not real values</a:t>
              </a:r>
            </a:p>
          </p:txBody>
        </p:sp>
      </p:grpSp>
      <p:grpSp>
        <p:nvGrpSpPr>
          <p:cNvPr name="Group 57" id="57"/>
          <p:cNvGrpSpPr/>
          <p:nvPr/>
        </p:nvGrpSpPr>
        <p:grpSpPr>
          <a:xfrm rot="0">
            <a:off x="14356080" y="2697480"/>
            <a:ext cx="1828800" cy="1828800"/>
            <a:chOff x="0" y="0"/>
            <a:chExt cx="2438400" cy="2438400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2438400" cy="2438400"/>
            </a:xfrm>
            <a:custGeom>
              <a:avLst/>
              <a:gdLst/>
              <a:ahLst/>
              <a:cxnLst/>
              <a:rect r="r" b="b" t="t" l="l"/>
              <a:pathLst>
                <a:path h="2438400" w="2438400">
                  <a:moveTo>
                    <a:pt x="0" y="1219200"/>
                  </a:moveTo>
                  <a:cubicBezTo>
                    <a:pt x="0" y="545846"/>
                    <a:pt x="545846" y="0"/>
                    <a:pt x="1219200" y="0"/>
                  </a:cubicBezTo>
                  <a:cubicBezTo>
                    <a:pt x="1892554" y="0"/>
                    <a:pt x="2438400" y="545846"/>
                    <a:pt x="2438400" y="1219200"/>
                  </a:cubicBezTo>
                  <a:cubicBezTo>
                    <a:pt x="2438400" y="1892554"/>
                    <a:pt x="1892554" y="2438400"/>
                    <a:pt x="1219200" y="2438400"/>
                  </a:cubicBezTo>
                  <a:cubicBezTo>
                    <a:pt x="545846" y="2438400"/>
                    <a:pt x="0" y="1892554"/>
                    <a:pt x="0" y="1219200"/>
                  </a:cubicBezTo>
                  <a:close/>
                </a:path>
              </a:pathLst>
            </a:custGeom>
            <a:solidFill>
              <a:srgbClr val="233457"/>
            </a:solidFill>
          </p:spPr>
        </p:sp>
        <p:sp>
          <p:nvSpPr>
            <p:cNvPr name="TextBox 59" id="59"/>
            <p:cNvSpPr txBox="true"/>
            <p:nvPr/>
          </p:nvSpPr>
          <p:spPr>
            <a:xfrm>
              <a:off x="0" y="-19050"/>
              <a:ext cx="2438400" cy="24574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00"/>
                </a:lnSpc>
              </a:pPr>
              <a:r>
                <a:rPr lang="en-US" sz="1500" b="true">
                  <a:solidFill>
                    <a:srgbClr val="FFFFFF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4</a:t>
              </a:r>
            </a:p>
            <a:p>
              <a:pPr algn="ctr">
                <a:lnSpc>
                  <a:spcPts val="2040"/>
                </a:lnSpc>
              </a:pPr>
              <a:r>
                <a:rPr lang="en-US" sz="1700" b="true">
                  <a:solidFill>
                    <a:srgbClr val="FFFFFF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FILL + FLAG</a:t>
              </a:r>
            </a:p>
          </p:txBody>
        </p:sp>
      </p:grpSp>
      <p:grpSp>
        <p:nvGrpSpPr>
          <p:cNvPr name="Group 60" id="60"/>
          <p:cNvGrpSpPr/>
          <p:nvPr/>
        </p:nvGrpSpPr>
        <p:grpSpPr>
          <a:xfrm rot="0">
            <a:off x="13487400" y="4645152"/>
            <a:ext cx="3566160" cy="658368"/>
            <a:chOff x="0" y="0"/>
            <a:chExt cx="4754880" cy="877824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4754880" cy="877824"/>
            </a:xfrm>
            <a:custGeom>
              <a:avLst/>
              <a:gdLst/>
              <a:ahLst/>
              <a:cxnLst/>
              <a:rect r="r" b="b" t="t" l="l"/>
              <a:pathLst>
                <a:path h="877824" w="4754880">
                  <a:moveTo>
                    <a:pt x="0" y="0"/>
                  </a:moveTo>
                  <a:lnTo>
                    <a:pt x="4754880" y="0"/>
                  </a:lnTo>
                  <a:lnTo>
                    <a:pt x="4754880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5543" r="0" b="-55543"/>
              </a:stretch>
            </a:blipFill>
          </p:spPr>
        </p:sp>
        <p:sp>
          <p:nvSpPr>
            <p:cNvPr name="TextBox 62" id="62"/>
            <p:cNvSpPr txBox="true"/>
            <p:nvPr/>
          </p:nvSpPr>
          <p:spPr>
            <a:xfrm>
              <a:off x="0" y="-19050"/>
              <a:ext cx="4754880" cy="89687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40"/>
                </a:lnSpc>
              </a:pPr>
              <a:r>
                <a:rPr lang="en-US" sz="1700" b="true">
                  <a:solidFill>
                    <a:srgbClr val="233457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Missing price, beds, bedrooms, bathrooms</a:t>
              </a:r>
            </a:p>
          </p:txBody>
        </p:sp>
      </p:grpSp>
      <p:grpSp>
        <p:nvGrpSpPr>
          <p:cNvPr name="Group 63" id="63"/>
          <p:cNvGrpSpPr/>
          <p:nvPr/>
        </p:nvGrpSpPr>
        <p:grpSpPr>
          <a:xfrm rot="0">
            <a:off x="13487400" y="5303520"/>
            <a:ext cx="3566160" cy="658368"/>
            <a:chOff x="0" y="0"/>
            <a:chExt cx="4754880" cy="877824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4754880" cy="877824"/>
            </a:xfrm>
            <a:custGeom>
              <a:avLst/>
              <a:gdLst/>
              <a:ahLst/>
              <a:cxnLst/>
              <a:rect r="r" b="b" t="t" l="l"/>
              <a:pathLst>
                <a:path h="877824" w="4754880">
                  <a:moveTo>
                    <a:pt x="0" y="0"/>
                  </a:moveTo>
                  <a:lnTo>
                    <a:pt x="4754880" y="0"/>
                  </a:lnTo>
                  <a:lnTo>
                    <a:pt x="4754880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5543" r="0" b="-55543"/>
              </a:stretch>
            </a:blipFill>
          </p:spPr>
        </p:sp>
        <p:sp>
          <p:nvSpPr>
            <p:cNvPr name="TextBox 65" id="65"/>
            <p:cNvSpPr txBox="true"/>
            <p:nvPr/>
          </p:nvSpPr>
          <p:spPr>
            <a:xfrm>
              <a:off x="0" y="-19050"/>
              <a:ext cx="4754880" cy="89687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40"/>
                </a:lnSpc>
              </a:pPr>
              <a:r>
                <a:rPr lang="en-US" sz="1700" b="true">
                  <a:solidFill>
                    <a:srgbClr val="233457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Room-type median + "missing" flag</a:t>
              </a:r>
            </a:p>
          </p:txBody>
        </p:sp>
      </p:grpSp>
      <p:grpSp>
        <p:nvGrpSpPr>
          <p:cNvPr name="Group 66" id="66"/>
          <p:cNvGrpSpPr/>
          <p:nvPr/>
        </p:nvGrpSpPr>
        <p:grpSpPr>
          <a:xfrm rot="0">
            <a:off x="13487400" y="5961888"/>
            <a:ext cx="3566160" cy="658368"/>
            <a:chOff x="0" y="0"/>
            <a:chExt cx="4754880" cy="877824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4754880" cy="877824"/>
            </a:xfrm>
            <a:custGeom>
              <a:avLst/>
              <a:gdLst/>
              <a:ahLst/>
              <a:cxnLst/>
              <a:rect r="r" b="b" t="t" l="l"/>
              <a:pathLst>
                <a:path h="877824" w="4754880">
                  <a:moveTo>
                    <a:pt x="0" y="0"/>
                  </a:moveTo>
                  <a:lnTo>
                    <a:pt x="4754880" y="0"/>
                  </a:lnTo>
                  <a:lnTo>
                    <a:pt x="4754880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5543" r="0" b="-55543"/>
              </a:stretch>
            </a:blipFill>
          </p:spPr>
        </p:sp>
        <p:sp>
          <p:nvSpPr>
            <p:cNvPr name="TextBox 68" id="68"/>
            <p:cNvSpPr txBox="true"/>
            <p:nvPr/>
          </p:nvSpPr>
          <p:spPr>
            <a:xfrm>
              <a:off x="0" y="-19050"/>
              <a:ext cx="4754880" cy="89687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0"/>
                </a:lnSpc>
              </a:pPr>
              <a:r>
                <a:rPr lang="en-US" sz="1500" b="true">
                  <a:solidFill>
                    <a:srgbClr val="5A6478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Skewed values; missingness linked to rating</a:t>
              </a:r>
            </a:p>
          </p:txBody>
        </p:sp>
      </p:grpSp>
      <p:grpSp>
        <p:nvGrpSpPr>
          <p:cNvPr name="Group 69" id="69"/>
          <p:cNvGrpSpPr/>
          <p:nvPr/>
        </p:nvGrpSpPr>
        <p:grpSpPr>
          <a:xfrm rot="0">
            <a:off x="1024128" y="6784848"/>
            <a:ext cx="10607040" cy="3108960"/>
            <a:chOff x="0" y="0"/>
            <a:chExt cx="14142720" cy="4145280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14142720" cy="4145280"/>
            </a:xfrm>
            <a:custGeom>
              <a:avLst/>
              <a:gdLst/>
              <a:ahLst/>
              <a:cxnLst/>
              <a:rect r="r" b="b" t="t" l="l"/>
              <a:pathLst>
                <a:path h="4145280" w="14142720">
                  <a:moveTo>
                    <a:pt x="0" y="331597"/>
                  </a:moveTo>
                  <a:cubicBezTo>
                    <a:pt x="0" y="148463"/>
                    <a:pt x="148463" y="0"/>
                    <a:pt x="331597" y="0"/>
                  </a:cubicBezTo>
                  <a:lnTo>
                    <a:pt x="13811123" y="0"/>
                  </a:lnTo>
                  <a:cubicBezTo>
                    <a:pt x="13994257" y="0"/>
                    <a:pt x="14142720" y="148463"/>
                    <a:pt x="14142720" y="331597"/>
                  </a:cubicBezTo>
                  <a:lnTo>
                    <a:pt x="14142720" y="3813683"/>
                  </a:lnTo>
                  <a:cubicBezTo>
                    <a:pt x="14142720" y="3996817"/>
                    <a:pt x="13994257" y="4145280"/>
                    <a:pt x="13811123" y="4145280"/>
                  </a:cubicBezTo>
                  <a:lnTo>
                    <a:pt x="331597" y="4145280"/>
                  </a:lnTo>
                  <a:cubicBezTo>
                    <a:pt x="148463" y="4145280"/>
                    <a:pt x="0" y="3996817"/>
                    <a:pt x="0" y="3813683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71" id="71"/>
          <p:cNvSpPr txBox="true"/>
          <p:nvPr/>
        </p:nvSpPr>
        <p:spPr>
          <a:xfrm rot="0">
            <a:off x="1225296" y="6936791"/>
            <a:ext cx="10204704" cy="27860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 b="true">
                <a:solidFill>
                  <a:srgbClr val="D32128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BEFORE AND AFTER</a:t>
            </a:r>
          </a:p>
        </p:txBody>
      </p:sp>
      <p:grpSp>
        <p:nvGrpSpPr>
          <p:cNvPr name="Group 72" id="72"/>
          <p:cNvGrpSpPr/>
          <p:nvPr/>
        </p:nvGrpSpPr>
        <p:grpSpPr>
          <a:xfrm rot="0">
            <a:off x="11887200" y="6784848"/>
            <a:ext cx="5349240" cy="1481328"/>
            <a:chOff x="0" y="0"/>
            <a:chExt cx="7132320" cy="1975104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7132320" cy="1975104"/>
            </a:xfrm>
            <a:custGeom>
              <a:avLst/>
              <a:gdLst/>
              <a:ahLst/>
              <a:cxnLst/>
              <a:rect r="r" b="b" t="t" l="l"/>
              <a:pathLst>
                <a:path h="1975104" w="7132320">
                  <a:moveTo>
                    <a:pt x="0" y="157988"/>
                  </a:moveTo>
                  <a:cubicBezTo>
                    <a:pt x="0" y="70739"/>
                    <a:pt x="70739" y="0"/>
                    <a:pt x="157988" y="0"/>
                  </a:cubicBezTo>
                  <a:lnTo>
                    <a:pt x="6974332" y="0"/>
                  </a:lnTo>
                  <a:cubicBezTo>
                    <a:pt x="7061581" y="0"/>
                    <a:pt x="7132320" y="70739"/>
                    <a:pt x="7132320" y="157988"/>
                  </a:cubicBezTo>
                  <a:lnTo>
                    <a:pt x="7132320" y="1817116"/>
                  </a:lnTo>
                  <a:cubicBezTo>
                    <a:pt x="7132320" y="1904365"/>
                    <a:pt x="7061581" y="1975104"/>
                    <a:pt x="6974332" y="1975104"/>
                  </a:cubicBezTo>
                  <a:lnTo>
                    <a:pt x="157988" y="1975104"/>
                  </a:lnTo>
                  <a:cubicBezTo>
                    <a:pt x="70739" y="1975104"/>
                    <a:pt x="0" y="1904365"/>
                    <a:pt x="0" y="1817116"/>
                  </a:cubicBezTo>
                  <a:close/>
                </a:path>
              </a:pathLst>
            </a:custGeom>
            <a:solidFill>
              <a:srgbClr val="D32128"/>
            </a:solidFill>
          </p:spPr>
        </p:sp>
      </p:grpSp>
      <p:sp>
        <p:nvSpPr>
          <p:cNvPr name="TextBox 74" id="74"/>
          <p:cNvSpPr txBox="true"/>
          <p:nvPr/>
        </p:nvSpPr>
        <p:spPr>
          <a:xfrm rot="0">
            <a:off x="12070080" y="6921246"/>
            <a:ext cx="4983480" cy="11894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 b="true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THE OUTLIER  £527,524</a:t>
            </a:r>
          </a:p>
          <a:p>
            <a:pPr algn="l">
              <a:lnSpc>
                <a:spcPts val="1800"/>
              </a:lnSpc>
            </a:pPr>
            <a:r>
              <a:rPr lang="en-US" sz="1500" b="true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One night, an entry error. 623 prices capped; no rated listing deleted.</a:t>
            </a:r>
          </a:p>
        </p:txBody>
      </p:sp>
      <p:grpSp>
        <p:nvGrpSpPr>
          <p:cNvPr name="Group 75" id="75"/>
          <p:cNvGrpSpPr/>
          <p:nvPr/>
        </p:nvGrpSpPr>
        <p:grpSpPr>
          <a:xfrm rot="0">
            <a:off x="11887200" y="8412480"/>
            <a:ext cx="5349240" cy="1481328"/>
            <a:chOff x="0" y="0"/>
            <a:chExt cx="7132320" cy="1975104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7132320" cy="1975104"/>
            </a:xfrm>
            <a:custGeom>
              <a:avLst/>
              <a:gdLst/>
              <a:ahLst/>
              <a:cxnLst/>
              <a:rect r="r" b="b" t="t" l="l"/>
              <a:pathLst>
                <a:path h="1975104" w="7132320">
                  <a:moveTo>
                    <a:pt x="0" y="157988"/>
                  </a:moveTo>
                  <a:cubicBezTo>
                    <a:pt x="0" y="70739"/>
                    <a:pt x="70739" y="0"/>
                    <a:pt x="157988" y="0"/>
                  </a:cubicBezTo>
                  <a:lnTo>
                    <a:pt x="6974332" y="0"/>
                  </a:lnTo>
                  <a:cubicBezTo>
                    <a:pt x="7061581" y="0"/>
                    <a:pt x="7132320" y="70739"/>
                    <a:pt x="7132320" y="157988"/>
                  </a:cubicBezTo>
                  <a:lnTo>
                    <a:pt x="7132320" y="1817116"/>
                  </a:lnTo>
                  <a:cubicBezTo>
                    <a:pt x="7132320" y="1904365"/>
                    <a:pt x="7061581" y="1975104"/>
                    <a:pt x="6974332" y="1975104"/>
                  </a:cubicBezTo>
                  <a:lnTo>
                    <a:pt x="157988" y="1975104"/>
                  </a:lnTo>
                  <a:cubicBezTo>
                    <a:pt x="70739" y="1975104"/>
                    <a:pt x="0" y="1904365"/>
                    <a:pt x="0" y="1817116"/>
                  </a:cubicBezTo>
                  <a:close/>
                </a:path>
              </a:pathLst>
            </a:custGeom>
            <a:solidFill>
              <a:srgbClr val="233457"/>
            </a:solidFill>
          </p:spPr>
        </p:sp>
      </p:grpSp>
      <p:sp>
        <p:nvSpPr>
          <p:cNvPr name="TextBox 77" id="77"/>
          <p:cNvSpPr txBox="true"/>
          <p:nvPr/>
        </p:nvSpPr>
        <p:spPr>
          <a:xfrm rot="0">
            <a:off x="12070080" y="8548878"/>
            <a:ext cx="4983480" cy="11894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 b="true">
                <a:solidFill>
                  <a:srgbClr val="A4D1E4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CHALLENGE</a:t>
            </a:r>
          </a:p>
          <a:p>
            <a:pPr algn="l">
              <a:lnSpc>
                <a:spcPts val="1800"/>
              </a:lnSpc>
            </a:pPr>
            <a:r>
              <a:rPr lang="en-US" sz="1500" b="true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33% of prices missing; 87% of those can't be booked: a pattern, not random.</a:t>
            </a:r>
          </a:p>
          <a:p>
            <a:pPr algn="l">
              <a:lnSpc>
                <a:spcPts val="1919"/>
              </a:lnSpc>
            </a:pPr>
            <a:r>
              <a:rPr lang="en-US" sz="1599" b="true">
                <a:solidFill>
                  <a:srgbClr val="A4D1E4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Result: 92,635 × 80 · 7/7 checks pass</a:t>
            </a:r>
          </a:p>
        </p:txBody>
      </p:sp>
      <p:grpSp>
        <p:nvGrpSpPr>
          <p:cNvPr name="Group 78" id="78"/>
          <p:cNvGrpSpPr/>
          <p:nvPr/>
        </p:nvGrpSpPr>
        <p:grpSpPr>
          <a:xfrm rot="0">
            <a:off x="2935996" y="7178040"/>
            <a:ext cx="6783305" cy="2606040"/>
            <a:chOff x="0" y="0"/>
            <a:chExt cx="9044407" cy="3474720"/>
          </a:xfrm>
        </p:grpSpPr>
        <p:sp>
          <p:nvSpPr>
            <p:cNvPr name="Freeform 79" id="79" descr="fig_crop.png"/>
            <p:cNvSpPr/>
            <p:nvPr/>
          </p:nvSpPr>
          <p:spPr>
            <a:xfrm flipH="false" flipV="false" rot="0">
              <a:off x="0" y="0"/>
              <a:ext cx="9044432" cy="3474720"/>
            </a:xfrm>
            <a:custGeom>
              <a:avLst/>
              <a:gdLst/>
              <a:ahLst/>
              <a:cxnLst/>
              <a:rect r="r" b="b" t="t" l="l"/>
              <a:pathLst>
                <a:path h="3474720" w="9044432">
                  <a:moveTo>
                    <a:pt x="0" y="0"/>
                  </a:moveTo>
                  <a:lnTo>
                    <a:pt x="9044432" y="0"/>
                  </a:lnTo>
                  <a:lnTo>
                    <a:pt x="9044432" y="3474720"/>
                  </a:lnTo>
                  <a:lnTo>
                    <a:pt x="0" y="34747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EEE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2575529"/>
            <a:ext cx="9374914" cy="3058566"/>
          </a:xfrm>
          <a:custGeom>
            <a:avLst/>
            <a:gdLst/>
            <a:ahLst/>
            <a:cxnLst/>
            <a:rect r="r" b="b" t="t" l="l"/>
            <a:pathLst>
              <a:path h="3058566" w="9374914">
                <a:moveTo>
                  <a:pt x="0" y="0"/>
                </a:moveTo>
                <a:lnTo>
                  <a:pt x="9374914" y="0"/>
                </a:lnTo>
                <a:lnTo>
                  <a:pt x="9374914" y="3058566"/>
                </a:lnTo>
                <a:lnTo>
                  <a:pt x="0" y="305856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aphicFrame>
        <p:nvGraphicFramePr>
          <p:cNvPr name="Object 3" id="3"/>
          <p:cNvGraphicFramePr/>
          <p:nvPr/>
        </p:nvGraphicFramePr>
        <p:xfrm>
          <a:off x="10858500" y="2695575"/>
          <a:ext cx="3771900" cy="1885950"/>
        </p:xfrm>
        <a:graphic>
          <a:graphicData uri="http://schemas.openxmlformats.org/presentationml/2006/ole">
            <p:oleObj imgW="4521200" imgH="2628900" r:id="rId4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3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sp>
        <p:nvSpPr>
          <p:cNvPr name="TextBox 4" id="4"/>
          <p:cNvSpPr txBox="true"/>
          <p:nvPr/>
        </p:nvSpPr>
        <p:spPr>
          <a:xfrm rot="0">
            <a:off x="0" y="914400"/>
            <a:ext cx="7040265" cy="5294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895"/>
              </a:lnSpc>
              <a:spcBef>
                <a:spcPct val="0"/>
              </a:spcBef>
            </a:pPr>
            <a:r>
              <a:rPr lang="en-US" b="true" sz="2782">
                <a:solidFill>
                  <a:srgbClr val="D32128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Univari</a:t>
            </a:r>
            <a:r>
              <a:rPr lang="en-US" b="true" sz="2782" strike="noStrike" u="none">
                <a:solidFill>
                  <a:srgbClr val="D32128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at</a:t>
            </a:r>
            <a:r>
              <a:rPr lang="en-US" b="true" sz="2782" strike="noStrike" u="none">
                <a:solidFill>
                  <a:srgbClr val="D32128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e</a:t>
            </a:r>
            <a:r>
              <a:rPr lang="en-US" b="true" sz="2782" strike="noStrike" u="none">
                <a:solidFill>
                  <a:srgbClr val="D32128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 </a:t>
            </a:r>
            <a:r>
              <a:rPr lang="en-US" b="true" sz="2782" strike="noStrike" u="none">
                <a:solidFill>
                  <a:srgbClr val="D32128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ov</a:t>
            </a:r>
            <a:r>
              <a:rPr lang="en-US" b="true" sz="2782" strike="noStrike" u="none">
                <a:solidFill>
                  <a:srgbClr val="D32128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e</a:t>
            </a:r>
            <a:r>
              <a:rPr lang="en-US" b="true" sz="2782" strike="noStrike" u="none">
                <a:solidFill>
                  <a:srgbClr val="D32128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rv</a:t>
            </a:r>
            <a:r>
              <a:rPr lang="en-US" b="true" sz="2782" strike="noStrike" u="none">
                <a:solidFill>
                  <a:srgbClr val="D32128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i</a:t>
            </a:r>
            <a:r>
              <a:rPr lang="en-US" b="true" sz="2782" strike="noStrike" u="none">
                <a:solidFill>
                  <a:srgbClr val="D32128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ew : Host Profile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1481901"/>
            <a:ext cx="14577616" cy="8692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486"/>
              </a:lnSpc>
              <a:spcBef>
                <a:spcPct val="0"/>
              </a:spcBef>
            </a:pPr>
            <a:r>
              <a:rPr lang="en-US" b="true" sz="5963">
                <a:solidFill>
                  <a:srgbClr val="233457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WHO IS BEHIND</a:t>
            </a:r>
            <a:r>
              <a:rPr lang="en-US" b="true" sz="5963" strike="noStrike" u="none">
                <a:solidFill>
                  <a:srgbClr val="233457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 LONDON'S AIRBNBS?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5802615"/>
            <a:ext cx="9374914" cy="24725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95"/>
              </a:lnSpc>
              <a:spcBef>
                <a:spcPct val="0"/>
              </a:spcBef>
            </a:pPr>
            <a:r>
              <a:rPr lang="en-US" b="true" sz="2782">
                <a:solidFill>
                  <a:srgbClr val="D32128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TAKEAWAY</a:t>
            </a:r>
          </a:p>
          <a:p>
            <a:pPr algn="l">
              <a:lnSpc>
                <a:spcPts val="3895"/>
              </a:lnSpc>
              <a:spcBef>
                <a:spcPct val="0"/>
              </a:spcBef>
            </a:pPr>
            <a:r>
              <a:rPr lang="en-US" b="true" sz="2782">
                <a:solidFill>
                  <a:srgbClr val="233457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London’s host landscape is diverse: from single-listing hosts to large-scale operators.</a:t>
            </a:r>
          </a:p>
          <a:p>
            <a:pPr algn="l">
              <a:lnSpc>
                <a:spcPts val="3895"/>
              </a:lnSpc>
              <a:spcBef>
                <a:spcPct val="0"/>
              </a:spcBef>
            </a:pPr>
            <a:r>
              <a:rPr lang="en-US" b="true" sz="2782">
                <a:solidFill>
                  <a:srgbClr val="233457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This makes portfolio size + host tenure worth testing against ratings.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EEE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2713122"/>
            <a:ext cx="9733634" cy="3516275"/>
          </a:xfrm>
          <a:custGeom>
            <a:avLst/>
            <a:gdLst/>
            <a:ahLst/>
            <a:cxnLst/>
            <a:rect r="r" b="b" t="t" l="l"/>
            <a:pathLst>
              <a:path h="3516275" w="9733634">
                <a:moveTo>
                  <a:pt x="0" y="0"/>
                </a:moveTo>
                <a:lnTo>
                  <a:pt x="9733634" y="0"/>
                </a:lnTo>
                <a:lnTo>
                  <a:pt x="9733634" y="3516275"/>
                </a:lnTo>
                <a:lnTo>
                  <a:pt x="0" y="351627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  <a:ln w="9525" cap="sq">
            <a:solidFill>
              <a:srgbClr val="655F68"/>
            </a:solidFill>
            <a:prstDash val="solid"/>
            <a:miter/>
          </a:ln>
        </p:spPr>
      </p:sp>
      <p:graphicFrame>
        <p:nvGraphicFramePr>
          <p:cNvPr name="Object 3" id="3"/>
          <p:cNvGraphicFramePr/>
          <p:nvPr/>
        </p:nvGraphicFramePr>
        <p:xfrm>
          <a:off x="11068050" y="2351172"/>
          <a:ext cx="3771900" cy="1885950"/>
        </p:xfrm>
        <a:graphic>
          <a:graphicData uri="http://schemas.openxmlformats.org/presentationml/2006/ole">
            <p:oleObj imgW="4521200" imgH="2628900" r:id="rId4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3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sp>
        <p:nvSpPr>
          <p:cNvPr name="TextBox 4" id="4"/>
          <p:cNvSpPr txBox="true"/>
          <p:nvPr/>
        </p:nvSpPr>
        <p:spPr>
          <a:xfrm rot="0">
            <a:off x="1028700" y="914400"/>
            <a:ext cx="5782965" cy="5294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895"/>
              </a:lnSpc>
              <a:spcBef>
                <a:spcPct val="0"/>
              </a:spcBef>
            </a:pPr>
            <a:r>
              <a:rPr lang="en-US" b="true" sz="2782">
                <a:solidFill>
                  <a:srgbClr val="D32128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Univari</a:t>
            </a:r>
            <a:r>
              <a:rPr lang="en-US" b="true" sz="2782" strike="noStrike" u="none">
                <a:solidFill>
                  <a:srgbClr val="D32128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at</a:t>
            </a:r>
            <a:r>
              <a:rPr lang="en-US" b="true" sz="2782" strike="noStrike" u="none">
                <a:solidFill>
                  <a:srgbClr val="D32128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e</a:t>
            </a:r>
            <a:r>
              <a:rPr lang="en-US" b="true" sz="2782" strike="noStrike" u="none">
                <a:solidFill>
                  <a:srgbClr val="D32128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 </a:t>
            </a:r>
            <a:r>
              <a:rPr lang="en-US" b="true" sz="2782" strike="noStrike" u="none">
                <a:solidFill>
                  <a:srgbClr val="D32128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ov</a:t>
            </a:r>
            <a:r>
              <a:rPr lang="en-US" b="true" sz="2782" strike="noStrike" u="none">
                <a:solidFill>
                  <a:srgbClr val="D32128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e</a:t>
            </a:r>
            <a:r>
              <a:rPr lang="en-US" b="true" sz="2782" strike="noStrike" u="none">
                <a:solidFill>
                  <a:srgbClr val="D32128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rv</a:t>
            </a:r>
            <a:r>
              <a:rPr lang="en-US" b="true" sz="2782" strike="noStrike" u="none">
                <a:solidFill>
                  <a:srgbClr val="D32128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i</a:t>
            </a:r>
            <a:r>
              <a:rPr lang="en-US" b="true" sz="2782" strike="noStrike" u="none">
                <a:solidFill>
                  <a:srgbClr val="D32128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ew: Listing Amenities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1481901"/>
            <a:ext cx="14577616" cy="8692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486"/>
              </a:lnSpc>
              <a:spcBef>
                <a:spcPct val="0"/>
              </a:spcBef>
            </a:pPr>
            <a:r>
              <a:rPr lang="en-US" b="true" sz="5963">
                <a:solidFill>
                  <a:srgbClr val="233457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WHAT</a:t>
            </a:r>
            <a:r>
              <a:rPr lang="en-US" b="true" sz="5963" strike="noStrike" u="none">
                <a:solidFill>
                  <a:srgbClr val="233457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 DO LONDON AIRBNBS OFFER?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6785799"/>
            <a:ext cx="9733634" cy="24725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895"/>
              </a:lnSpc>
              <a:spcBef>
                <a:spcPct val="0"/>
              </a:spcBef>
            </a:pPr>
            <a:r>
              <a:rPr lang="en-US" b="true" sz="2782" strike="noStrike" u="none">
                <a:solidFill>
                  <a:srgbClr val="D32128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TAKEAWAY</a:t>
            </a:r>
          </a:p>
          <a:p>
            <a:pPr algn="l" marL="0" indent="0" lvl="0">
              <a:lnSpc>
                <a:spcPts val="3895"/>
              </a:lnSpc>
              <a:spcBef>
                <a:spcPct val="0"/>
              </a:spcBef>
            </a:pPr>
            <a:r>
              <a:rPr lang="en-US" b="true" sz="2782" strike="noStrike" u="none">
                <a:solidFill>
                  <a:srgbClr val="233457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London listings vary substantially in amenity count, while basic amenities are nearly universal.</a:t>
            </a:r>
          </a:p>
          <a:p>
            <a:pPr algn="l" marL="0" indent="0" lvl="0">
              <a:lnSpc>
                <a:spcPts val="3895"/>
              </a:lnSpc>
              <a:spcBef>
                <a:spcPct val="0"/>
              </a:spcBef>
            </a:pPr>
            <a:r>
              <a:rPr lang="en-US" b="true" sz="2782" strike="noStrike" u="none">
                <a:solidFill>
                  <a:srgbClr val="233457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Amenity quantity and differentiating amenities move forward to rating analysis.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EEE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64436" y="2318592"/>
            <a:ext cx="10516769" cy="4081821"/>
          </a:xfrm>
          <a:custGeom>
            <a:avLst/>
            <a:gdLst/>
            <a:ahLst/>
            <a:cxnLst/>
            <a:rect r="r" b="b" t="t" l="l"/>
            <a:pathLst>
              <a:path h="4081821" w="10516769">
                <a:moveTo>
                  <a:pt x="0" y="0"/>
                </a:moveTo>
                <a:lnTo>
                  <a:pt x="10516769" y="0"/>
                </a:lnTo>
                <a:lnTo>
                  <a:pt x="10516769" y="4081820"/>
                </a:lnTo>
                <a:lnTo>
                  <a:pt x="0" y="408182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aphicFrame>
        <p:nvGraphicFramePr>
          <p:cNvPr name="Object 3" id="3"/>
          <p:cNvGraphicFramePr/>
          <p:nvPr/>
        </p:nvGraphicFramePr>
        <p:xfrm>
          <a:off x="11734800" y="2318592"/>
          <a:ext cx="3771900" cy="1885950"/>
        </p:xfrm>
        <a:graphic>
          <a:graphicData uri="http://schemas.openxmlformats.org/presentationml/2006/ole">
            <p:oleObj imgW="4521200" imgH="2628900" r:id="rId5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4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sp>
        <p:nvSpPr>
          <p:cNvPr name="TextBox 4" id="4"/>
          <p:cNvSpPr txBox="true"/>
          <p:nvPr/>
        </p:nvSpPr>
        <p:spPr>
          <a:xfrm rot="0">
            <a:off x="1028700" y="914400"/>
            <a:ext cx="4731346" cy="5294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895"/>
              </a:lnSpc>
              <a:spcBef>
                <a:spcPct val="0"/>
              </a:spcBef>
            </a:pPr>
            <a:r>
              <a:rPr lang="en-US" b="true" sz="2782">
                <a:solidFill>
                  <a:srgbClr val="D32128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Bivari</a:t>
            </a:r>
            <a:r>
              <a:rPr lang="en-US" b="true" sz="2782" strike="noStrike" u="none">
                <a:solidFill>
                  <a:srgbClr val="D32128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at</a:t>
            </a:r>
            <a:r>
              <a:rPr lang="en-US" b="true" sz="2782" strike="noStrike" u="none">
                <a:solidFill>
                  <a:srgbClr val="D32128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e</a:t>
            </a:r>
            <a:r>
              <a:rPr lang="en-US" b="true" sz="2782" strike="noStrike" u="none">
                <a:solidFill>
                  <a:srgbClr val="D32128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 </a:t>
            </a:r>
            <a:r>
              <a:rPr lang="en-US" b="true" sz="2782" strike="noStrike" u="none">
                <a:solidFill>
                  <a:srgbClr val="D32128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ov</a:t>
            </a:r>
            <a:r>
              <a:rPr lang="en-US" b="true" sz="2782" strike="noStrike" u="none">
                <a:solidFill>
                  <a:srgbClr val="D32128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e</a:t>
            </a:r>
            <a:r>
              <a:rPr lang="en-US" b="true" sz="2782" strike="noStrike" u="none">
                <a:solidFill>
                  <a:srgbClr val="D32128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rv</a:t>
            </a:r>
            <a:r>
              <a:rPr lang="en-US" b="true" sz="2782" strike="noStrike" u="none">
                <a:solidFill>
                  <a:srgbClr val="D32128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i</a:t>
            </a:r>
            <a:r>
              <a:rPr lang="en-US" b="true" sz="2782" strike="noStrike" u="none">
                <a:solidFill>
                  <a:srgbClr val="D32128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ew: Host Profile 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1472376"/>
            <a:ext cx="16699756" cy="6314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014"/>
              </a:lnSpc>
              <a:spcBef>
                <a:spcPct val="0"/>
              </a:spcBef>
            </a:pPr>
            <a:r>
              <a:rPr lang="en-US" b="true" sz="4363">
                <a:solidFill>
                  <a:srgbClr val="233457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DOES HOSTING</a:t>
            </a:r>
            <a:r>
              <a:rPr lang="en-US" b="true" sz="4363" strike="noStrike" u="none">
                <a:solidFill>
                  <a:srgbClr val="233457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 MORE LISTINGS MEAN BETTER </a:t>
            </a:r>
            <a:r>
              <a:rPr lang="en-US" b="true" sz="4363" strike="noStrike" u="none">
                <a:solidFill>
                  <a:srgbClr val="233457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RATINGS</a:t>
            </a:r>
            <a:r>
              <a:rPr lang="en-US" b="true" sz="4363" strike="noStrike" u="none">
                <a:solidFill>
                  <a:srgbClr val="233457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?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7271574"/>
            <a:ext cx="10262791" cy="15009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895"/>
              </a:lnSpc>
              <a:spcBef>
                <a:spcPct val="0"/>
              </a:spcBef>
            </a:pPr>
            <a:r>
              <a:rPr lang="en-US" b="true" sz="2782" strike="noStrike" u="none">
                <a:solidFill>
                  <a:srgbClr val="D32128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TAKEAWAY</a:t>
            </a:r>
          </a:p>
          <a:p>
            <a:pPr algn="l" marL="0" indent="0" lvl="0">
              <a:lnSpc>
                <a:spcPts val="3895"/>
              </a:lnSpc>
              <a:spcBef>
                <a:spcPct val="0"/>
              </a:spcBef>
            </a:pPr>
            <a:r>
              <a:rPr lang="en-US" b="true" sz="2782" strike="noStrike" u="none">
                <a:solidFill>
                  <a:srgbClr val="233457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Single-listing hosts show a 22.2 percentage-point higher top-rated rate.</a:t>
            </a:r>
          </a:p>
          <a:p>
            <a:pPr algn="l" marL="0" indent="0" lvl="0">
              <a:lnSpc>
                <a:spcPts val="3895"/>
              </a:lnSpc>
              <a:spcBef>
                <a:spcPct val="0"/>
              </a:spcBef>
            </a:pPr>
            <a:r>
              <a:rPr lang="en-US" b="true" sz="2782" strike="noStrike" u="none">
                <a:solidFill>
                  <a:srgbClr val="233457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Host type </a:t>
            </a:r>
            <a:r>
              <a:rPr lang="en-US" b="true" sz="2782" strike="noStrike" u="none">
                <a:solidFill>
                  <a:srgbClr val="233457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i</a:t>
            </a:r>
            <a:r>
              <a:rPr lang="en-US" b="true" sz="2782" strike="noStrike" u="none">
                <a:solidFill>
                  <a:srgbClr val="233457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s our strongest categorical bivariate signal.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EEE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name="Object 2" id="2"/>
          <p:cNvGraphicFramePr/>
          <p:nvPr/>
        </p:nvGraphicFramePr>
        <p:xfrm>
          <a:off x="11449050" y="2408577"/>
          <a:ext cx="3771900" cy="1885950"/>
        </p:xfrm>
        <a:graphic>
          <a:graphicData uri="http://schemas.openxmlformats.org/presentationml/2006/ole">
            <p:oleObj imgW="4521200" imgH="2628900" r:id="rId4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3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sp>
        <p:nvSpPr>
          <p:cNvPr name="Freeform 3" id="3"/>
          <p:cNvSpPr/>
          <p:nvPr/>
        </p:nvSpPr>
        <p:spPr>
          <a:xfrm flipH="false" flipV="false" rot="0">
            <a:off x="1028700" y="2103777"/>
            <a:ext cx="9201150" cy="5485393"/>
          </a:xfrm>
          <a:custGeom>
            <a:avLst/>
            <a:gdLst/>
            <a:ahLst/>
            <a:cxnLst/>
            <a:rect r="r" b="b" t="t" l="l"/>
            <a:pathLst>
              <a:path h="5485393" w="9201150">
                <a:moveTo>
                  <a:pt x="0" y="0"/>
                </a:moveTo>
                <a:lnTo>
                  <a:pt x="9201150" y="0"/>
                </a:lnTo>
                <a:lnTo>
                  <a:pt x="9201150" y="5485393"/>
                </a:lnTo>
                <a:lnTo>
                  <a:pt x="0" y="548539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7497" t="0" r="-8586" b="-887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28700" y="914400"/>
            <a:ext cx="4149428" cy="5294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895"/>
              </a:lnSpc>
              <a:spcBef>
                <a:spcPct val="0"/>
              </a:spcBef>
            </a:pPr>
            <a:r>
              <a:rPr lang="en-US" b="true" sz="2782">
                <a:solidFill>
                  <a:srgbClr val="D32128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Bivari</a:t>
            </a:r>
            <a:r>
              <a:rPr lang="en-US" b="true" sz="2782" strike="noStrike" u="none">
                <a:solidFill>
                  <a:srgbClr val="D32128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at</a:t>
            </a:r>
            <a:r>
              <a:rPr lang="en-US" b="true" sz="2782" strike="noStrike" u="none">
                <a:solidFill>
                  <a:srgbClr val="D32128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e</a:t>
            </a:r>
            <a:r>
              <a:rPr lang="en-US" b="true" sz="2782" strike="noStrike" u="none">
                <a:solidFill>
                  <a:srgbClr val="D32128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 </a:t>
            </a:r>
            <a:r>
              <a:rPr lang="en-US" b="true" sz="2782" strike="noStrike" u="none">
                <a:solidFill>
                  <a:srgbClr val="D32128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ov</a:t>
            </a:r>
            <a:r>
              <a:rPr lang="en-US" b="true" sz="2782" strike="noStrike" u="none">
                <a:solidFill>
                  <a:srgbClr val="D32128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e</a:t>
            </a:r>
            <a:r>
              <a:rPr lang="en-US" b="true" sz="2782" strike="noStrike" u="none">
                <a:solidFill>
                  <a:srgbClr val="D32128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rv</a:t>
            </a:r>
            <a:r>
              <a:rPr lang="en-US" b="true" sz="2782" strike="noStrike" u="none">
                <a:solidFill>
                  <a:srgbClr val="D32128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i</a:t>
            </a:r>
            <a:r>
              <a:rPr lang="en-US" b="true" sz="2782" strike="noStrike" u="none">
                <a:solidFill>
                  <a:srgbClr val="D32128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ew: Location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135410" y="1472376"/>
            <a:ext cx="16123890" cy="6314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014"/>
              </a:lnSpc>
              <a:spcBef>
                <a:spcPct val="0"/>
              </a:spcBef>
            </a:pPr>
            <a:r>
              <a:rPr lang="en-US" b="true" sz="4363" strike="noStrike" u="none">
                <a:solidFill>
                  <a:srgbClr val="233457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DOES LOCATION INFLUENCE THE GUEST EXPERIENCE?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7648151"/>
            <a:ext cx="9734550" cy="15009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895"/>
              </a:lnSpc>
              <a:spcBef>
                <a:spcPct val="0"/>
              </a:spcBef>
            </a:pPr>
            <a:r>
              <a:rPr lang="en-US" b="true" sz="2782" strike="noStrike" u="none">
                <a:solidFill>
                  <a:srgbClr val="D32128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TAKEAWAY</a:t>
            </a:r>
          </a:p>
          <a:p>
            <a:pPr algn="l" marL="0" indent="0" lvl="0">
              <a:lnSpc>
                <a:spcPts val="3895"/>
              </a:lnSpc>
              <a:spcBef>
                <a:spcPct val="0"/>
              </a:spcBef>
            </a:pPr>
            <a:r>
              <a:rPr lang="en-US" b="true" sz="2782" strike="noStrike" u="none">
                <a:solidFill>
                  <a:srgbClr val="233457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Top-rated performance varies widely across London boroughs.</a:t>
            </a:r>
          </a:p>
          <a:p>
            <a:pPr algn="l" marL="0" indent="0" lvl="0">
              <a:lnSpc>
                <a:spcPts val="3895"/>
              </a:lnSpc>
              <a:spcBef>
                <a:spcPct val="0"/>
              </a:spcBef>
            </a:pPr>
            <a:r>
              <a:rPr lang="en-US" b="true" sz="2782" strike="noStrike" u="none">
                <a:solidFill>
                  <a:srgbClr val="233457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Location matters, but host type remains the stronger signal.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EEE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82055" y="2178707"/>
            <a:ext cx="10039896" cy="5137315"/>
          </a:xfrm>
          <a:custGeom>
            <a:avLst/>
            <a:gdLst/>
            <a:ahLst/>
            <a:cxnLst/>
            <a:rect r="r" b="b" t="t" l="l"/>
            <a:pathLst>
              <a:path h="5137315" w="10039896">
                <a:moveTo>
                  <a:pt x="0" y="0"/>
                </a:moveTo>
                <a:lnTo>
                  <a:pt x="10039896" y="0"/>
                </a:lnTo>
                <a:lnTo>
                  <a:pt x="10039896" y="5137315"/>
                </a:lnTo>
                <a:lnTo>
                  <a:pt x="0" y="513731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aphicFrame>
        <p:nvGraphicFramePr>
          <p:cNvPr name="Object 3" id="3"/>
          <p:cNvGraphicFramePr/>
          <p:nvPr/>
        </p:nvGraphicFramePr>
        <p:xfrm>
          <a:off x="11391900" y="2178707"/>
          <a:ext cx="3771900" cy="1885950"/>
        </p:xfrm>
        <a:graphic>
          <a:graphicData uri="http://schemas.openxmlformats.org/presentationml/2006/ole">
            <p:oleObj imgW="4521200" imgH="2628900" r:id="rId5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4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sp>
        <p:nvSpPr>
          <p:cNvPr name="TextBox 4" id="4"/>
          <p:cNvSpPr txBox="true"/>
          <p:nvPr/>
        </p:nvSpPr>
        <p:spPr>
          <a:xfrm rot="0">
            <a:off x="1028700" y="914400"/>
            <a:ext cx="4086820" cy="5294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895"/>
              </a:lnSpc>
              <a:spcBef>
                <a:spcPct val="0"/>
              </a:spcBef>
            </a:pPr>
            <a:r>
              <a:rPr lang="en-US" b="true" sz="2782">
                <a:solidFill>
                  <a:srgbClr val="D32128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Bivari</a:t>
            </a:r>
            <a:r>
              <a:rPr lang="en-US" b="true" sz="2782" strike="noStrike" u="none">
                <a:solidFill>
                  <a:srgbClr val="D32128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at</a:t>
            </a:r>
            <a:r>
              <a:rPr lang="en-US" b="true" sz="2782" strike="noStrike" u="none">
                <a:solidFill>
                  <a:srgbClr val="D32128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e</a:t>
            </a:r>
            <a:r>
              <a:rPr lang="en-US" b="true" sz="2782" strike="noStrike" u="none">
                <a:solidFill>
                  <a:srgbClr val="D32128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 </a:t>
            </a:r>
            <a:r>
              <a:rPr lang="en-US" b="true" sz="2782" strike="noStrike" u="none">
                <a:solidFill>
                  <a:srgbClr val="D32128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ov</a:t>
            </a:r>
            <a:r>
              <a:rPr lang="en-US" b="true" sz="2782" strike="noStrike" u="none">
                <a:solidFill>
                  <a:srgbClr val="D32128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e</a:t>
            </a:r>
            <a:r>
              <a:rPr lang="en-US" b="true" sz="2782" strike="noStrike" u="none">
                <a:solidFill>
                  <a:srgbClr val="D32128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rv</a:t>
            </a:r>
            <a:r>
              <a:rPr lang="en-US" b="true" sz="2782" strike="noStrike" u="none">
                <a:solidFill>
                  <a:srgbClr val="D32128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i</a:t>
            </a:r>
            <a:r>
              <a:rPr lang="en-US" b="true" sz="2782" strike="noStrike" u="none">
                <a:solidFill>
                  <a:srgbClr val="D32128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ew: Amenity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82055" y="1472376"/>
            <a:ext cx="16123890" cy="7063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474"/>
              </a:lnSpc>
              <a:spcBef>
                <a:spcPct val="0"/>
              </a:spcBef>
            </a:pPr>
            <a:r>
              <a:rPr lang="en-US" b="true" sz="4863">
                <a:solidFill>
                  <a:srgbClr val="233457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WHICH LISTI</a:t>
            </a:r>
            <a:r>
              <a:rPr lang="en-US" b="true" sz="4863" strike="noStrike" u="none">
                <a:solidFill>
                  <a:srgbClr val="233457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NG FEATURES MOVE WITH RATIN</a:t>
            </a:r>
            <a:r>
              <a:rPr lang="en-US" b="true" sz="4863" strike="noStrike" u="none">
                <a:solidFill>
                  <a:srgbClr val="233457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GS</a:t>
            </a:r>
            <a:r>
              <a:rPr lang="en-US" b="true" sz="4863" strike="noStrike" u="none">
                <a:solidFill>
                  <a:srgbClr val="233457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?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82055" y="7441025"/>
            <a:ext cx="10039896" cy="19867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895"/>
              </a:lnSpc>
              <a:spcBef>
                <a:spcPct val="0"/>
              </a:spcBef>
            </a:pPr>
            <a:r>
              <a:rPr lang="en-US" b="true" sz="2782" strike="noStrike" u="none">
                <a:solidFill>
                  <a:srgbClr val="D32128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TAKEAWAY</a:t>
            </a:r>
          </a:p>
          <a:p>
            <a:pPr algn="l" marL="0" indent="0" lvl="0">
              <a:lnSpc>
                <a:spcPts val="3895"/>
              </a:lnSpc>
              <a:spcBef>
                <a:spcPct val="0"/>
              </a:spcBef>
            </a:pPr>
            <a:r>
              <a:rPr lang="en-US" b="true" sz="2782" strike="noStrike" u="none">
                <a:solidFill>
                  <a:srgbClr val="233457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Amenity-rich listings (43+) show the highest top-rated rate at 65.7%. Amenities matter, but their signal is weaker than host type and location.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EEE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962025"/>
            <a:ext cx="9144000" cy="596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94"/>
              </a:lnSpc>
            </a:pPr>
            <a:r>
              <a:rPr lang="en-US" sz="2781" b="true">
                <a:solidFill>
                  <a:srgbClr val="D32128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Multivariate overview: Combined Signals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1451808"/>
            <a:ext cx="16123891" cy="7103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66"/>
              </a:lnSpc>
            </a:pPr>
            <a:r>
              <a:rPr lang="en-US" sz="4800" b="true">
                <a:solidFill>
                  <a:srgbClr val="233457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WHAT HAPPENS WHEN WE CONNECT THE SIGNALS?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028700" y="2465193"/>
            <a:ext cx="10393348" cy="4131888"/>
            <a:chOff x="0" y="0"/>
            <a:chExt cx="14142720" cy="5622455"/>
          </a:xfrm>
        </p:grpSpPr>
        <p:sp>
          <p:nvSpPr>
            <p:cNvPr name="Freeform 5" id="5" descr="c15_2.png"/>
            <p:cNvSpPr/>
            <p:nvPr/>
          </p:nvSpPr>
          <p:spPr>
            <a:xfrm flipH="false" flipV="false" rot="0">
              <a:off x="0" y="0"/>
              <a:ext cx="14142720" cy="5622417"/>
            </a:xfrm>
            <a:custGeom>
              <a:avLst/>
              <a:gdLst/>
              <a:ahLst/>
              <a:cxnLst/>
              <a:rect r="r" b="b" t="t" l="l"/>
              <a:pathLst>
                <a:path h="5622417" w="14142720">
                  <a:moveTo>
                    <a:pt x="0" y="0"/>
                  </a:moveTo>
                  <a:lnTo>
                    <a:pt x="14142720" y="0"/>
                  </a:lnTo>
                  <a:lnTo>
                    <a:pt x="14142720" y="5622417"/>
                  </a:lnTo>
                  <a:lnTo>
                    <a:pt x="0" y="562241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TextBox 6" id="6"/>
          <p:cNvSpPr txBox="true"/>
          <p:nvPr/>
        </p:nvSpPr>
        <p:spPr>
          <a:xfrm rot="0">
            <a:off x="1028700" y="6785799"/>
            <a:ext cx="10393348" cy="24725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895"/>
              </a:lnSpc>
              <a:spcBef>
                <a:spcPct val="0"/>
              </a:spcBef>
            </a:pPr>
            <a:r>
              <a:rPr lang="en-US" b="true" sz="2782" strike="noStrike" u="none">
                <a:solidFill>
                  <a:srgbClr val="D32128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TAKEAWAY</a:t>
            </a:r>
          </a:p>
          <a:p>
            <a:pPr algn="l" marL="0" indent="0" lvl="0">
              <a:lnSpc>
                <a:spcPts val="3895"/>
              </a:lnSpc>
              <a:spcBef>
                <a:spcPct val="0"/>
              </a:spcBef>
            </a:pPr>
            <a:r>
              <a:rPr lang="en-US" b="true" sz="2782" strike="noStrike" u="none">
                <a:solidFill>
                  <a:srgbClr val="233457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No single feature predicts a top rating (none above ρ = 0.28), but together they reach AUC 0.770.</a:t>
            </a:r>
          </a:p>
          <a:p>
            <a:pPr algn="l" marL="0" indent="0" lvl="0">
              <a:lnSpc>
                <a:spcPts val="3895"/>
              </a:lnSpc>
              <a:spcBef>
                <a:spcPct val="0"/>
              </a:spcBef>
            </a:pPr>
            <a:r>
              <a:rPr lang="en-US" b="true" sz="2782" strike="noStrike" u="none">
                <a:solidFill>
                  <a:srgbClr val="233457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Host profile matters most, while amenities are the strongest factor hosts can change.</a:t>
            </a:r>
          </a:p>
        </p:txBody>
      </p:sp>
      <p:graphicFrame>
        <p:nvGraphicFramePr>
          <p:cNvPr name="Table 7" id="7"/>
          <p:cNvGraphicFramePr>
            <a:graphicFrameLocks noGrp="true"/>
          </p:cNvGraphicFramePr>
          <p:nvPr/>
        </p:nvGraphicFramePr>
        <p:xfrm>
          <a:off x="11529031" y="2162175"/>
          <a:ext cx="5730269" cy="7098632"/>
        </p:xfrm>
        <a:graphic>
          <a:graphicData uri="http://schemas.openxmlformats.org/drawingml/2006/table">
            <a:tbl>
              <a:tblPr/>
              <a:tblGrid>
                <a:gridCol w="3230896"/>
                <a:gridCol w="2499372"/>
              </a:tblGrid>
              <a:tr h="843129">
                <a:tc>
                  <a:txBody>
                    <a:bodyPr anchor="t" rtlCol="false"/>
                    <a:lstStyle/>
                    <a:p>
                      <a:pPr algn="l" marL="0" indent="0" lvl="0">
                        <a:lnSpc>
                          <a:spcPts val="3755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2682" strike="noStrike" u="none">
                          <a:solidFill>
                            <a:srgbClr val="D32128"/>
                          </a:solidFill>
                          <a:latin typeface="Times New Roman MT Bold"/>
                          <a:ea typeface="Times New Roman MT Bold"/>
                          <a:cs typeface="Times New Roman MT Bold"/>
                          <a:sym typeface="Times New Roman MT Bold"/>
                        </a:rPr>
                        <a:t>OBSERVATION</a:t>
                      </a:r>
                      <a:endParaRPr lang="en-US" sz="1100"/>
                    </a:p>
                  </a:txBody>
                  <a:tcPr marL="109728" marR="109728" marT="109728" marB="109728" anchor="ctr">
                    <a:lnL cmpd="sng" algn="ctr" cap="flat" w="9525">
                      <a:solidFill>
                        <a:srgbClr val="655F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655F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655F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655F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 lvl="0">
                        <a:lnSpc>
                          <a:spcPts val="3755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2682" strike="noStrike" u="none">
                          <a:solidFill>
                            <a:srgbClr val="D32128"/>
                          </a:solidFill>
                          <a:latin typeface="Times New Roman MT Bold"/>
                          <a:ea typeface="Times New Roman MT Bold"/>
                          <a:cs typeface="Times New Roman MT Bold"/>
                          <a:sym typeface="Times New Roman MT Bold"/>
                        </a:rPr>
                        <a:t>DECISION</a:t>
                      </a:r>
                      <a:endParaRPr lang="en-US" sz="1100"/>
                    </a:p>
                  </a:txBody>
                  <a:tcPr marL="109728" marR="109728" marT="109728" marB="109728" anchor="ctr">
                    <a:lnL cmpd="sng" algn="ctr" cap="flat" w="9525">
                      <a:solidFill>
                        <a:srgbClr val="655F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655F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655F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655F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87191">
                <a:tc>
                  <a:txBody>
                    <a:bodyPr anchor="t" rtlCol="false"/>
                    <a:lstStyle/>
                    <a:p>
                      <a:pPr algn="l" marL="0" indent="0" lvl="0">
                        <a:lnSpc>
                          <a:spcPts val="3755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2682" strike="noStrike" u="none">
                          <a:solidFill>
                            <a:srgbClr val="233457"/>
                          </a:solidFill>
                          <a:latin typeface="Times New Roman MT Bold"/>
                          <a:ea typeface="Times New Roman MT Bold"/>
                          <a:cs typeface="Times New Roman MT Bold"/>
                          <a:sym typeface="Times New Roman MT Bold"/>
                        </a:rPr>
                        <a:t>Host profile has the largest grouped importance (0.084)</a:t>
                      </a:r>
                      <a:endParaRPr lang="en-US" sz="1100"/>
                    </a:p>
                  </a:txBody>
                  <a:tcPr marL="109728" marR="109728" marT="109728" marB="109728" anchor="ctr">
                    <a:lnL cmpd="sng" algn="ctr" cap="flat" w="9525">
                      <a:solidFill>
                        <a:srgbClr val="655F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655F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655F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655F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 lvl="0">
                        <a:lnSpc>
                          <a:spcPts val="3755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2682" strike="noStrike" u="none">
                          <a:solidFill>
                            <a:srgbClr val="233457"/>
                          </a:solidFill>
                          <a:latin typeface="Times New Roman MT Bold"/>
                          <a:ea typeface="Times New Roman MT Bold"/>
                          <a:cs typeface="Times New Roman MT Bold"/>
                          <a:sym typeface="Times New Roman MT Bold"/>
                        </a:rPr>
                        <a:t>Keep host profile as key context</a:t>
                      </a:r>
                      <a:endParaRPr lang="en-US" sz="1100"/>
                    </a:p>
                  </a:txBody>
                  <a:tcPr marL="109728" marR="109728" marT="109728" marB="109728" anchor="ctr">
                    <a:lnL cmpd="sng" algn="ctr" cap="flat" w="9525">
                      <a:solidFill>
                        <a:srgbClr val="655F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655F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655F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655F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61046">
                <a:tc>
                  <a:txBody>
                    <a:bodyPr anchor="t" rtlCol="false"/>
                    <a:lstStyle/>
                    <a:p>
                      <a:pPr algn="l" marL="0" indent="0" lvl="0">
                        <a:lnSpc>
                          <a:spcPts val="3755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2682" strike="noStrike" u="none">
                          <a:solidFill>
                            <a:srgbClr val="233457"/>
                          </a:solidFill>
                          <a:latin typeface="Times New Roman MT Bold"/>
                          <a:ea typeface="Times New Roman MT Bold"/>
                          <a:cs typeface="Times New Roman MT Bold"/>
                          <a:sym typeface="Times New Roman MT Bold"/>
                        </a:rPr>
                        <a:t>Amenities lead host-controllable factors (0.060)</a:t>
                      </a:r>
                      <a:endParaRPr lang="en-US" sz="1100"/>
                    </a:p>
                  </a:txBody>
                  <a:tcPr marL="109728" marR="109728" marT="109728" marB="109728" anchor="ctr">
                    <a:lnL cmpd="sng" algn="ctr" cap="flat" w="9525">
                      <a:solidFill>
                        <a:srgbClr val="655F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655F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655F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655F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 lvl="0">
                        <a:lnSpc>
                          <a:spcPts val="3755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2682" strike="noStrike" u="none">
                          <a:solidFill>
                            <a:srgbClr val="233457"/>
                          </a:solidFill>
                          <a:latin typeface="Times New Roman MT Bold"/>
                          <a:ea typeface="Times New Roman MT Bold"/>
                          <a:cs typeface="Times New Roman MT Bold"/>
                          <a:sym typeface="Times New Roman MT Bold"/>
                        </a:rPr>
                        <a:t>Prioritize amenities in host recommendations</a:t>
                      </a:r>
                      <a:endParaRPr lang="en-US" sz="1100"/>
                    </a:p>
                  </a:txBody>
                  <a:tcPr marL="109728" marR="109728" marT="109728" marB="109728" anchor="ctr">
                    <a:lnL cmpd="sng" algn="ctr" cap="flat" w="9525">
                      <a:solidFill>
                        <a:srgbClr val="655F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655F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655F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655F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707266">
                <a:tc>
                  <a:txBody>
                    <a:bodyPr anchor="t" rtlCol="false"/>
                    <a:lstStyle/>
                    <a:p>
                      <a:pPr algn="l" marL="0" indent="0" lvl="0">
                        <a:lnSpc>
                          <a:spcPts val="3755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2682" strike="noStrike" u="none">
                          <a:solidFill>
                            <a:srgbClr val="233457"/>
                          </a:solidFill>
                          <a:latin typeface="Times New Roman MT Bold"/>
                          <a:ea typeface="Times New Roman MT Bold"/>
                          <a:cs typeface="Times New Roman MT Bold"/>
                          <a:sym typeface="Times New Roman MT Bold"/>
                        </a:rPr>
                        <a:t>Host-type gap persists in 32 of 33 boroughs</a:t>
                      </a:r>
                      <a:endParaRPr lang="en-US" sz="1100"/>
                    </a:p>
                  </a:txBody>
                  <a:tcPr marL="109728" marR="109728" marT="109728" marB="109728" anchor="ctr">
                    <a:lnL cmpd="sng" algn="ctr" cap="flat" w="9525">
                      <a:solidFill>
                        <a:srgbClr val="655F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655F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655F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655F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 lvl="0">
                        <a:lnSpc>
                          <a:spcPts val="3755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2682" strike="noStrike" u="none">
                          <a:solidFill>
                            <a:srgbClr val="233457"/>
                          </a:solidFill>
                          <a:latin typeface="Times New Roman MT Bold"/>
                          <a:ea typeface="Times New Roman MT Bold"/>
                          <a:cs typeface="Times New Roman MT Bold"/>
                          <a:sym typeface="Times New Roman MT Bold"/>
                        </a:rPr>
                        <a:t>Keep host type + location together</a:t>
                      </a:r>
                      <a:endParaRPr lang="en-US" sz="1100"/>
                    </a:p>
                  </a:txBody>
                  <a:tcPr marL="109728" marR="109728" marT="109728" marB="109728" anchor="ctr">
                    <a:lnL cmpd="sng" algn="ctr" cap="flat" w="9525">
                      <a:solidFill>
                        <a:srgbClr val="655F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655F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655F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655F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>
  <p:cSld>
    <p:bg>
      <p:bgPr>
        <a:solidFill>
          <a:srgbClr val="EEEE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1537835"/>
            <a:ext cx="8229600" cy="596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94"/>
              </a:lnSpc>
            </a:pPr>
            <a:r>
              <a:rPr lang="en-US" sz="2781" b="true">
                <a:solidFill>
                  <a:srgbClr val="D32128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Preliminary ML direction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2248210"/>
            <a:ext cx="16230600" cy="7192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02"/>
              </a:lnSpc>
            </a:pPr>
            <a:r>
              <a:rPr lang="en-US" sz="5763" b="true">
                <a:solidFill>
                  <a:srgbClr val="233457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CAN WE PREDICT WHAT DRIVES SUCCESS?</a:t>
            </a:r>
          </a:p>
        </p:txBody>
      </p:sp>
      <p:graphicFrame>
        <p:nvGraphicFramePr>
          <p:cNvPr name="Table 4" id="4"/>
          <p:cNvGraphicFramePr>
            <a:graphicFrameLocks noGrp="true"/>
          </p:cNvGraphicFramePr>
          <p:nvPr/>
        </p:nvGraphicFramePr>
        <p:xfrm>
          <a:off x="1028700" y="3205615"/>
          <a:ext cx="9677400" cy="3238500"/>
        </p:xfrm>
        <a:graphic>
          <a:graphicData uri="http://schemas.openxmlformats.org/drawingml/2006/table">
            <a:tbl>
              <a:tblPr/>
              <a:tblGrid>
                <a:gridCol w="2923853"/>
                <a:gridCol w="3286189"/>
                <a:gridCol w="3467358"/>
              </a:tblGrid>
              <a:tr h="6477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39"/>
                        </a:lnSpc>
                        <a:defRPr/>
                      </a:pPr>
                      <a:r>
                        <a:rPr lang="en-US" sz="2199" b="true">
                          <a:solidFill>
                            <a:srgbClr val="D32128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TARGET</a:t>
                      </a:r>
                      <a:endParaRPr lang="en-US" sz="1100"/>
                    </a:p>
                  </a:txBody>
                  <a:tcPr marL="109728" marR="109728" marT="109728" marB="109728" anchor="ctr">
                    <a:lnL cmpd="sng" algn="ctr" cap="flat" w="12700">
                      <a:solidFill>
                        <a:srgbClr val="8A8F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8A8F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8A8F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8A8F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39"/>
                        </a:lnSpc>
                        <a:defRPr/>
                      </a:pPr>
                      <a:r>
                        <a:rPr lang="en-US" sz="2199" b="true">
                          <a:solidFill>
                            <a:srgbClr val="D32128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INPUT SIGNALS</a:t>
                      </a:r>
                      <a:endParaRPr lang="en-US" sz="1100"/>
                    </a:p>
                  </a:txBody>
                  <a:tcPr marL="109728" marR="109728" marT="109728" marB="109728" anchor="ctr">
                    <a:lnL cmpd="sng" algn="ctr" cap="flat" w="12700">
                      <a:solidFill>
                        <a:srgbClr val="8A8F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8A8F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8A8F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8A8F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39"/>
                        </a:lnSpc>
                        <a:defRPr/>
                      </a:pPr>
                      <a:r>
                        <a:rPr lang="en-US" sz="2199" b="true">
                          <a:solidFill>
                            <a:srgbClr val="D32128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MODEL PLAN</a:t>
                      </a:r>
                      <a:endParaRPr lang="en-US" sz="1100"/>
                    </a:p>
                  </a:txBody>
                  <a:tcPr marL="109728" marR="109728" marT="109728" marB="109728" anchor="ctr">
                    <a:lnL cmpd="sng" algn="ctr" cap="flat" w="12700">
                      <a:solidFill>
                        <a:srgbClr val="8A8F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8A8F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8A8F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8A8F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77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79"/>
                        </a:lnSpc>
                        <a:defRPr/>
                      </a:pPr>
                      <a:r>
                        <a:rPr lang="en-US" sz="1899" b="true">
                          <a:solidFill>
                            <a:srgbClr val="233457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Top rated ≥ 4.8 (1)</a:t>
                      </a:r>
                      <a:endParaRPr lang="en-US" sz="1100"/>
                    </a:p>
                  </a:txBody>
                  <a:tcPr marL="109728" marR="109728" marT="109728" marB="109728" anchor="ctr">
                    <a:lnL cmpd="sng" algn="ctr" cap="flat" w="12700">
                      <a:solidFill>
                        <a:srgbClr val="8A8F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8A8F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8A8F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8A8F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79"/>
                        </a:lnSpc>
                        <a:defRPr/>
                      </a:pPr>
                      <a:r>
                        <a:rPr lang="en-US" sz="1899" b="true">
                          <a:solidFill>
                            <a:srgbClr val="233457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Host profile</a:t>
                      </a:r>
                      <a:endParaRPr lang="en-US" sz="1100"/>
                    </a:p>
                  </a:txBody>
                  <a:tcPr marL="109728" marR="109728" marT="109728" marB="109728" anchor="ctr">
                    <a:lnL cmpd="sng" algn="ctr" cap="flat" w="12700">
                      <a:solidFill>
                        <a:srgbClr val="8A8F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8A8F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8A8F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8A8F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79"/>
                        </a:lnSpc>
                        <a:defRPr/>
                      </a:pPr>
                      <a:r>
                        <a:rPr lang="en-US" sz="1899" b="true">
                          <a:solidFill>
                            <a:srgbClr val="233457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Logistic regression (baseline)</a:t>
                      </a:r>
                      <a:endParaRPr lang="en-US" sz="1100"/>
                    </a:p>
                  </a:txBody>
                  <a:tcPr marL="109728" marR="109728" marT="109728" marB="109728" anchor="ctr">
                    <a:lnL cmpd="sng" algn="ctr" cap="flat" w="12700">
                      <a:solidFill>
                        <a:srgbClr val="8A8F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8A8F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8A8F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8A8F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77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79"/>
                        </a:lnSpc>
                        <a:defRPr/>
                      </a:pPr>
                      <a:r>
                        <a:rPr lang="en-US" sz="1899" b="true">
                          <a:solidFill>
                            <a:srgbClr val="233457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Not top rated &lt; 4.8 (0)</a:t>
                      </a:r>
                      <a:endParaRPr lang="en-US" sz="1100"/>
                    </a:p>
                  </a:txBody>
                  <a:tcPr marL="109728" marR="109728" marT="109728" marB="109728" anchor="ctr">
                    <a:lnL cmpd="sng" algn="ctr" cap="flat" w="12700">
                      <a:solidFill>
                        <a:srgbClr val="8A8F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8A8F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8A8F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8A8F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79"/>
                        </a:lnSpc>
                        <a:defRPr/>
                      </a:pPr>
                      <a:r>
                        <a:rPr lang="en-US" sz="1899" b="true">
                          <a:solidFill>
                            <a:srgbClr val="233457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Location (borough)</a:t>
                      </a:r>
                      <a:endParaRPr lang="en-US" sz="1100"/>
                    </a:p>
                  </a:txBody>
                  <a:tcPr marL="109728" marR="109728" marT="109728" marB="109728" anchor="ctr">
                    <a:lnL cmpd="sng" algn="ctr" cap="flat" w="12700">
                      <a:solidFill>
                        <a:srgbClr val="8A8F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8A8F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8A8F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8A8F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79"/>
                        </a:lnSpc>
                        <a:defRPr/>
                      </a:pPr>
                      <a:r>
                        <a:rPr lang="en-US" sz="1899" b="true">
                          <a:solidFill>
                            <a:srgbClr val="233457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Random forest</a:t>
                      </a:r>
                      <a:endParaRPr lang="en-US" sz="1100"/>
                    </a:p>
                  </a:txBody>
                  <a:tcPr marL="109728" marR="109728" marT="109728" marB="109728" anchor="ctr">
                    <a:lnL cmpd="sng" algn="ctr" cap="flat" w="12700">
                      <a:solidFill>
                        <a:srgbClr val="8A8F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8A8F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8A8F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8A8F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77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79"/>
                        </a:lnSpc>
                        <a:defRPr/>
                      </a:pPr>
                      <a:r>
                        <a:rPr lang="en-US" sz="1899" b="true">
                          <a:solidFill>
                            <a:srgbClr val="233457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70,708 rated listings</a:t>
                      </a:r>
                      <a:endParaRPr lang="en-US" sz="1100"/>
                    </a:p>
                  </a:txBody>
                  <a:tcPr marL="109728" marR="109728" marT="109728" marB="109728" anchor="ctr">
                    <a:lnL cmpd="sng" algn="ctr" cap="flat" w="12700">
                      <a:solidFill>
                        <a:srgbClr val="8A8F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8A8F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8A8F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8A8F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79"/>
                        </a:lnSpc>
                        <a:defRPr/>
                      </a:pPr>
                      <a:r>
                        <a:rPr lang="en-US" sz="1899" b="true">
                          <a:solidFill>
                            <a:srgbClr val="233457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Listing + amenities</a:t>
                      </a:r>
                      <a:endParaRPr lang="en-US" sz="1100"/>
                    </a:p>
                  </a:txBody>
                  <a:tcPr marL="109728" marR="109728" marT="109728" marB="109728" anchor="ctr">
                    <a:lnL cmpd="sng" algn="ctr" cap="flat" w="12700">
                      <a:solidFill>
                        <a:srgbClr val="8A8F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8A8F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8A8F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8A8F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79"/>
                        </a:lnSpc>
                        <a:defRPr/>
                      </a:pPr>
                      <a:r>
                        <a:rPr lang="en-US" sz="1899" b="true">
                          <a:solidFill>
                            <a:srgbClr val="233457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Compare on validation set</a:t>
                      </a:r>
                      <a:endParaRPr lang="en-US" sz="1100"/>
                    </a:p>
                  </a:txBody>
                  <a:tcPr marL="109728" marR="109728" marT="109728" marB="109728" anchor="ctr">
                    <a:lnL cmpd="sng" algn="ctr" cap="flat" w="12700">
                      <a:solidFill>
                        <a:srgbClr val="8A8F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8A8F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8A8F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8A8F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77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79"/>
                        </a:lnSpc>
                        <a:defRPr/>
                      </a:pPr>
                      <a:r>
                        <a:rPr lang="en-US" sz="1899" b="true">
                          <a:solidFill>
                            <a:srgbClr val="233457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56.1% top rated</a:t>
                      </a:r>
                      <a:endParaRPr lang="en-US" sz="1100"/>
                    </a:p>
                  </a:txBody>
                  <a:tcPr marL="109728" marR="109728" marT="109728" marB="109728" anchor="ctr">
                    <a:lnL cmpd="sng" algn="ctr" cap="flat" w="12700">
                      <a:solidFill>
                        <a:srgbClr val="8A8F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8A8F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8A8F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8A8F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79"/>
                        </a:lnSpc>
                        <a:defRPr/>
                      </a:pPr>
                      <a:r>
                        <a:rPr lang="en-US" sz="1899" b="true">
                          <a:solidFill>
                            <a:srgbClr val="233457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Booking rules + pricing</a:t>
                      </a:r>
                      <a:endParaRPr lang="en-US" sz="1100"/>
                    </a:p>
                  </a:txBody>
                  <a:tcPr marL="109728" marR="109728" marT="109728" marB="109728" anchor="ctr">
                    <a:lnL cmpd="sng" algn="ctr" cap="flat" w="12700">
                      <a:solidFill>
                        <a:srgbClr val="8A8F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8A8F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8A8F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8A8F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79"/>
                        </a:lnSpc>
                        <a:defRPr/>
                      </a:pPr>
                      <a:r>
                        <a:rPr lang="en-US" sz="1899" b="true">
                          <a:solidFill>
                            <a:srgbClr val="233457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Final check on test set</a:t>
                      </a:r>
                      <a:endParaRPr lang="en-US" sz="1100"/>
                    </a:p>
                  </a:txBody>
                  <a:tcPr marL="109728" marR="109728" marT="109728" marB="109728" anchor="ctr">
                    <a:lnL cmpd="sng" algn="ctr" cap="flat" w="12700">
                      <a:solidFill>
                        <a:srgbClr val="8A8F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8A8F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8A8F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8A8F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TextBox 5" id="5"/>
          <p:cNvSpPr txBox="true"/>
          <p:nvPr/>
        </p:nvSpPr>
        <p:spPr>
          <a:xfrm rot="0">
            <a:off x="10927842" y="3186565"/>
            <a:ext cx="6331458" cy="3905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9"/>
              </a:lnSpc>
            </a:pPr>
            <a:r>
              <a:rPr lang="en-US" sz="2199" b="true">
                <a:solidFill>
                  <a:srgbClr val="D32128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ML TASK: BINARY CLASSIFICATION</a:t>
            </a:r>
          </a:p>
          <a:p>
            <a:pPr algn="l">
              <a:lnSpc>
                <a:spcPts val="2279"/>
              </a:lnSpc>
            </a:pPr>
          </a:p>
          <a:p>
            <a:pPr algn="l">
              <a:lnSpc>
                <a:spcPts val="2519"/>
              </a:lnSpc>
            </a:pPr>
            <a:r>
              <a:rPr lang="en-US" sz="2099" b="true">
                <a:solidFill>
                  <a:srgbClr val="233457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Why, from our EDA:</a:t>
            </a:r>
          </a:p>
          <a:p>
            <a:pPr algn="l">
              <a:lnSpc>
                <a:spcPts val="2399"/>
              </a:lnSpc>
            </a:pPr>
          </a:p>
          <a:p>
            <a:pPr algn="l">
              <a:lnSpc>
                <a:spcPts val="2399"/>
              </a:lnSpc>
            </a:pPr>
            <a:r>
              <a:rPr lang="en-US" sz="1999" b="true">
                <a:solidFill>
                  <a:srgbClr val="233457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Ratings pile up near 5.0, so we predict top rated: yes or no</a:t>
            </a:r>
          </a:p>
          <a:p>
            <a:pPr algn="l">
              <a:lnSpc>
                <a:spcPts val="2399"/>
              </a:lnSpc>
            </a:pPr>
          </a:p>
          <a:p>
            <a:pPr algn="l">
              <a:lnSpc>
                <a:spcPts val="2399"/>
              </a:lnSpc>
            </a:pPr>
            <a:r>
              <a:rPr lang="en-US" sz="1999" b="true">
                <a:solidFill>
                  <a:srgbClr val="233457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56/44 balance, so no resampling needed</a:t>
            </a:r>
          </a:p>
          <a:p>
            <a:pPr algn="l">
              <a:lnSpc>
                <a:spcPts val="2399"/>
              </a:lnSpc>
            </a:pPr>
          </a:p>
          <a:p>
            <a:pPr algn="l">
              <a:lnSpc>
                <a:spcPts val="2399"/>
              </a:lnSpc>
            </a:pPr>
            <a:r>
              <a:rPr lang="en-US" sz="1999" b="true">
                <a:solidFill>
                  <a:srgbClr val="233457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Combined features beat a straight-line rule (AUC 0.770 vs 0.725), so we compare with a tree model</a:t>
            </a:r>
          </a:p>
          <a:p>
            <a:pPr algn="l">
              <a:lnSpc>
                <a:spcPts val="2399"/>
              </a:lnSpc>
            </a:pPr>
          </a:p>
          <a:p>
            <a:pPr algn="l">
              <a:lnSpc>
                <a:spcPts val="2399"/>
              </a:lnSpc>
            </a:pPr>
            <a:r>
              <a:rPr lang="en-US" sz="1999" b="true">
                <a:solidFill>
                  <a:srgbClr val="233457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Review sub-scores and superhost excluded (target leakage)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7315200"/>
            <a:ext cx="16230600" cy="1943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799" b="true">
                <a:solidFill>
                  <a:srgbClr val="D32128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MODELING DECISION</a:t>
            </a:r>
          </a:p>
          <a:p>
            <a:pPr algn="l">
              <a:lnSpc>
                <a:spcPts val="2879"/>
              </a:lnSpc>
            </a:pPr>
            <a:r>
              <a:rPr lang="en-US" sz="2400" b="true">
                <a:solidFill>
                  <a:srgbClr val="233457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Stratified 70/15/15 split | Preprocessing fit on training rows only | Compare F1, ROC-AUC and confusion matrix</a:t>
            </a:r>
          </a:p>
          <a:p>
            <a:pPr algn="l">
              <a:lnSpc>
                <a:spcPts val="2879"/>
              </a:lnSpc>
            </a:pPr>
          </a:p>
          <a:p>
            <a:pPr algn="l">
              <a:lnSpc>
                <a:spcPts val="3359"/>
              </a:lnSpc>
            </a:pPr>
            <a:r>
              <a:rPr lang="en-US" sz="2799" b="true">
                <a:solidFill>
                  <a:srgbClr val="D32128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TAKEAWAY</a:t>
            </a:r>
          </a:p>
          <a:p>
            <a:pPr algn="l">
              <a:lnSpc>
                <a:spcPts val="2879"/>
              </a:lnSpc>
            </a:pPr>
            <a:r>
              <a:rPr lang="en-US" sz="2400" b="true">
                <a:solidFill>
                  <a:srgbClr val="233457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EDA identified the signals; ML tests how well they predict top-rated status together.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EEE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48207" y="2000419"/>
            <a:ext cx="8759531" cy="4724672"/>
          </a:xfrm>
          <a:custGeom>
            <a:avLst/>
            <a:gdLst/>
            <a:ahLst/>
            <a:cxnLst/>
            <a:rect r="r" b="b" t="t" l="l"/>
            <a:pathLst>
              <a:path h="4724672" w="8759531">
                <a:moveTo>
                  <a:pt x="0" y="0"/>
                </a:moveTo>
                <a:lnTo>
                  <a:pt x="8759530" y="0"/>
                </a:lnTo>
                <a:lnTo>
                  <a:pt x="8759530" y="4724672"/>
                </a:lnTo>
                <a:lnTo>
                  <a:pt x="0" y="472467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376172" y="2509603"/>
            <a:ext cx="8274874" cy="4011105"/>
          </a:xfrm>
          <a:custGeom>
            <a:avLst/>
            <a:gdLst/>
            <a:ahLst/>
            <a:cxnLst/>
            <a:rect r="r" b="b" t="t" l="l"/>
            <a:pathLst>
              <a:path h="4011105" w="8274874">
                <a:moveTo>
                  <a:pt x="0" y="0"/>
                </a:moveTo>
                <a:lnTo>
                  <a:pt x="8274873" y="0"/>
                </a:lnTo>
                <a:lnTo>
                  <a:pt x="8274873" y="4011104"/>
                </a:lnTo>
                <a:lnTo>
                  <a:pt x="0" y="401110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-2699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28700" y="346899"/>
            <a:ext cx="3699272" cy="5294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895"/>
              </a:lnSpc>
              <a:spcBef>
                <a:spcPct val="0"/>
              </a:spcBef>
            </a:pPr>
            <a:r>
              <a:rPr lang="en-US" b="true" sz="2782">
                <a:solidFill>
                  <a:srgbClr val="D32128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C</a:t>
            </a:r>
            <a:r>
              <a:rPr lang="en-US" b="true" sz="2782" strike="noStrike" u="none">
                <a:solidFill>
                  <a:srgbClr val="D32128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PU vs GPU (RAPIDS)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1057275"/>
            <a:ext cx="16230600" cy="6575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198"/>
              </a:lnSpc>
              <a:spcBef>
                <a:spcPct val="0"/>
              </a:spcBef>
            </a:pPr>
            <a:r>
              <a:rPr lang="en-US" b="true" sz="4563">
                <a:solidFill>
                  <a:srgbClr val="233457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DOES GPU ACCELERATION ACTUALLY HELP?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7058466"/>
            <a:ext cx="16230600" cy="2428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95"/>
              </a:lnSpc>
              <a:spcBef>
                <a:spcPct val="0"/>
              </a:spcBef>
            </a:pPr>
            <a:r>
              <a:rPr lang="en-US" b="true" sz="2282">
                <a:solidFill>
                  <a:srgbClr val="D32128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DECISION</a:t>
            </a:r>
          </a:p>
          <a:p>
            <a:pPr algn="l">
              <a:lnSpc>
                <a:spcPts val="3195"/>
              </a:lnSpc>
              <a:spcBef>
                <a:spcPct val="0"/>
              </a:spcBef>
            </a:pPr>
            <a:r>
              <a:rPr lang="en-US" b="true" sz="2282">
                <a:solidFill>
                  <a:srgbClr val="233457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Use RAPIDS for data loading and heavier aggregations; retain pandas for lightweight operations.</a:t>
            </a:r>
          </a:p>
          <a:p>
            <a:pPr algn="l">
              <a:lnSpc>
                <a:spcPts val="3195"/>
              </a:lnSpc>
              <a:spcBef>
                <a:spcPct val="0"/>
              </a:spcBef>
            </a:pPr>
          </a:p>
          <a:p>
            <a:pPr algn="l">
              <a:lnSpc>
                <a:spcPts val="3195"/>
              </a:lnSpc>
              <a:spcBef>
                <a:spcPct val="0"/>
              </a:spcBef>
            </a:pPr>
            <a:r>
              <a:rPr lang="en-US" b="true" sz="2282">
                <a:solidFill>
                  <a:srgbClr val="D32128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TAKEAWAY</a:t>
            </a:r>
          </a:p>
          <a:p>
            <a:pPr algn="l">
              <a:lnSpc>
                <a:spcPts val="3195"/>
              </a:lnSpc>
              <a:spcBef>
                <a:spcPct val="0"/>
              </a:spcBef>
            </a:pPr>
            <a:r>
              <a:rPr lang="en-US" b="true" sz="2282">
                <a:solidFill>
                  <a:srgbClr val="233457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GPU ≠ always faster. RAPIDS delivers the biggest gains on heavier workloads, while pandas remains competitive on smaller operations.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EEE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name="Object 2" id="2"/>
          <p:cNvGraphicFramePr/>
          <p:nvPr/>
        </p:nvGraphicFramePr>
        <p:xfrm>
          <a:off x="1028700" y="3290264"/>
          <a:ext cx="5657850" cy="1885950"/>
        </p:xfrm>
        <a:graphic>
          <a:graphicData uri="http://schemas.openxmlformats.org/presentationml/2006/ole">
            <p:oleObj imgW="6781800" imgH="3009900" r:id="rId3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2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sp>
        <p:nvSpPr>
          <p:cNvPr name="TextBox 3" id="3"/>
          <p:cNvSpPr txBox="true"/>
          <p:nvPr/>
        </p:nvSpPr>
        <p:spPr>
          <a:xfrm rot="0">
            <a:off x="1028700" y="1030163"/>
            <a:ext cx="2152849" cy="5294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895"/>
              </a:lnSpc>
              <a:spcBef>
                <a:spcPct val="0"/>
              </a:spcBef>
            </a:pPr>
            <a:r>
              <a:rPr lang="en-US" b="true" sz="2782">
                <a:solidFill>
                  <a:srgbClr val="D32128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Final</a:t>
            </a:r>
            <a:r>
              <a:rPr lang="en-US" b="true" sz="2782" strike="noStrike" u="none">
                <a:solidFill>
                  <a:srgbClr val="D32128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 synthesis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1788164"/>
            <a:ext cx="16230600" cy="8335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302"/>
              </a:lnSpc>
              <a:spcBef>
                <a:spcPct val="0"/>
              </a:spcBef>
            </a:pPr>
            <a:r>
              <a:rPr lang="en-US" b="true" sz="5763">
                <a:solidFill>
                  <a:srgbClr val="233457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SO,</a:t>
            </a:r>
            <a:r>
              <a:rPr lang="en-US" b="true" sz="5763" strike="noStrike" u="none">
                <a:solidFill>
                  <a:srgbClr val="233457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 WHAT MAKES A TOP</a:t>
            </a:r>
            <a:r>
              <a:rPr lang="en-US" b="true" sz="5763" strike="noStrike" u="none">
                <a:solidFill>
                  <a:srgbClr val="233457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-RAT</a:t>
            </a:r>
            <a:r>
              <a:rPr lang="en-US" b="true" sz="5763" strike="noStrike" u="none">
                <a:solidFill>
                  <a:srgbClr val="233457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ED</a:t>
            </a:r>
            <a:r>
              <a:rPr lang="en-US" b="true" sz="5763" strike="noStrike" u="none">
                <a:solidFill>
                  <a:srgbClr val="233457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 AIRBNB?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7035355"/>
            <a:ext cx="16230600" cy="22229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75"/>
              </a:lnSpc>
            </a:pPr>
            <a:r>
              <a:rPr lang="en-US" sz="2482" b="true">
                <a:solidFill>
                  <a:srgbClr val="D32128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FINAL MESSAGE:</a:t>
            </a:r>
          </a:p>
          <a:p>
            <a:pPr algn="l">
              <a:lnSpc>
                <a:spcPts val="3475"/>
              </a:lnSpc>
              <a:spcBef>
                <a:spcPct val="0"/>
              </a:spcBef>
            </a:pPr>
            <a:r>
              <a:rPr lang="en-US" b="true" sz="2482">
                <a:solidFill>
                  <a:srgbClr val="233457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T</a:t>
            </a:r>
            <a:r>
              <a:rPr lang="en-US" b="true" sz="2482">
                <a:solidFill>
                  <a:srgbClr val="233457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op ratings are not driven by one feature. Host profile provides the strongest overall signal, while amenities are the strongest factor hosts can directly change.</a:t>
            </a:r>
          </a:p>
          <a:p>
            <a:pPr algn="l">
              <a:lnSpc>
                <a:spcPts val="3475"/>
              </a:lnSpc>
              <a:spcBef>
                <a:spcPct val="0"/>
              </a:spcBef>
            </a:pPr>
          </a:p>
          <a:p>
            <a:pPr algn="l">
              <a:lnSpc>
                <a:spcPts val="3475"/>
              </a:lnSpc>
              <a:spcBef>
                <a:spcPct val="0"/>
              </a:spcBef>
            </a:pPr>
            <a:r>
              <a:rPr lang="en-US" b="true" sz="2482">
                <a:solidFill>
                  <a:srgbClr val="233457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Hosts cannot change their location or history but they can improve how their listing competes within that context.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EEE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152200" y="940016"/>
            <a:ext cx="6706479" cy="5868169"/>
            <a:chOff x="0" y="0"/>
            <a:chExt cx="812800" cy="7112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711200"/>
            </a:xfrm>
            <a:custGeom>
              <a:avLst/>
              <a:gdLst/>
              <a:ahLst/>
              <a:cxnLst/>
              <a:rect r="r" b="b" t="t" l="l"/>
              <a:pathLst>
                <a:path h="711200" w="812800">
                  <a:moveTo>
                    <a:pt x="530371" y="0"/>
                  </a:moveTo>
                  <a:lnTo>
                    <a:pt x="282407" y="0"/>
                  </a:lnTo>
                  <a:cubicBezTo>
                    <a:pt x="126426" y="0"/>
                    <a:pt x="0" y="123512"/>
                    <a:pt x="0" y="275871"/>
                  </a:cubicBezTo>
                  <a:cubicBezTo>
                    <a:pt x="0" y="386169"/>
                    <a:pt x="66279" y="481310"/>
                    <a:pt x="162037" y="525451"/>
                  </a:cubicBezTo>
                  <a:lnTo>
                    <a:pt x="162037" y="711200"/>
                  </a:lnTo>
                  <a:lnTo>
                    <a:pt x="353844" y="551732"/>
                  </a:lnTo>
                  <a:lnTo>
                    <a:pt x="530371" y="551732"/>
                  </a:lnTo>
                  <a:cubicBezTo>
                    <a:pt x="686363" y="551732"/>
                    <a:pt x="812800" y="428220"/>
                    <a:pt x="812800" y="275861"/>
                  </a:cubicBezTo>
                  <a:cubicBezTo>
                    <a:pt x="812811" y="123512"/>
                    <a:pt x="686363" y="0"/>
                    <a:pt x="530371" y="0"/>
                  </a:cubicBezTo>
                  <a:close/>
                </a:path>
              </a:pathLst>
            </a:custGeom>
            <a:solidFill>
              <a:srgbClr val="A4D1E4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28575"/>
              <a:ext cx="812800" cy="4921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13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5268028" y="1627636"/>
            <a:ext cx="6474823" cy="35158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40"/>
              </a:lnSpc>
            </a:pPr>
          </a:p>
          <a:p>
            <a:pPr algn="ctr">
              <a:lnSpc>
                <a:spcPts val="2740"/>
              </a:lnSpc>
            </a:pPr>
            <a:r>
              <a:rPr lang="en-US" sz="2978" b="true">
                <a:solidFill>
                  <a:srgbClr val="233457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70,708 London Airbnbs</a:t>
            </a:r>
          </a:p>
          <a:p>
            <a:pPr algn="ctr">
              <a:lnSpc>
                <a:spcPts val="2740"/>
              </a:lnSpc>
            </a:pPr>
            <a:r>
              <a:rPr lang="en-US" sz="2978" b="true">
                <a:solidFill>
                  <a:srgbClr val="233457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One question. One clear takeaway.</a:t>
            </a:r>
          </a:p>
          <a:p>
            <a:pPr algn="ctr">
              <a:lnSpc>
                <a:spcPts val="2740"/>
              </a:lnSpc>
            </a:pPr>
          </a:p>
          <a:p>
            <a:pPr algn="ctr">
              <a:lnSpc>
                <a:spcPts val="2740"/>
              </a:lnSpc>
            </a:pPr>
            <a:r>
              <a:rPr lang="en-US" sz="2978" b="true">
                <a:solidFill>
                  <a:srgbClr val="233457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Top-rated success comes from a combination of context and choices, </a:t>
            </a:r>
          </a:p>
          <a:p>
            <a:pPr algn="ctr">
              <a:lnSpc>
                <a:spcPts val="2740"/>
              </a:lnSpc>
            </a:pPr>
          </a:p>
          <a:p>
            <a:pPr algn="ctr">
              <a:lnSpc>
                <a:spcPts val="2740"/>
              </a:lnSpc>
            </a:pPr>
            <a:r>
              <a:rPr lang="en-US" sz="2978" b="true">
                <a:solidFill>
                  <a:srgbClr val="233457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amenities are the strongest lever hosts can directly control</a:t>
            </a:r>
          </a:p>
          <a:p>
            <a:pPr algn="ctr" marL="0" indent="0" lvl="0">
              <a:lnSpc>
                <a:spcPts val="2740"/>
              </a:lnSpc>
              <a:spcBef>
                <a:spcPct val="0"/>
              </a:spcBef>
            </a:pP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1608819" y="1049186"/>
            <a:ext cx="5022012" cy="9237814"/>
          </a:xfrm>
          <a:custGeom>
            <a:avLst/>
            <a:gdLst/>
            <a:ahLst/>
            <a:cxnLst/>
            <a:rect r="r" b="b" t="t" l="l"/>
            <a:pathLst>
              <a:path h="9237814" w="5022012">
                <a:moveTo>
                  <a:pt x="0" y="0"/>
                </a:moveTo>
                <a:lnTo>
                  <a:pt x="5022012" y="0"/>
                </a:lnTo>
                <a:lnTo>
                  <a:pt x="5022012" y="9237814"/>
                </a:lnTo>
                <a:lnTo>
                  <a:pt x="0" y="923781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4"/>
          <a:srcRect l="0" t="0" r="0" b="0"/>
          <a:stretch>
            <a:fillRect/>
          </a:stretch>
        </p:blipFill>
        <p:spPr>
          <a:xfrm flipH="false" flipV="false" rot="-573357">
            <a:off x="888635" y="6221480"/>
            <a:ext cx="3388139" cy="4361668"/>
          </a:xfrm>
          <a:prstGeom prst="rect">
            <a:avLst/>
          </a:prstGeom>
        </p:spPr>
      </p:pic>
      <p:sp>
        <p:nvSpPr>
          <p:cNvPr name="TextBox 8" id="8"/>
          <p:cNvSpPr txBox="true"/>
          <p:nvPr/>
        </p:nvSpPr>
        <p:spPr>
          <a:xfrm rot="0">
            <a:off x="8067530" y="5599032"/>
            <a:ext cx="7582297" cy="18326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439"/>
              </a:lnSpc>
              <a:spcBef>
                <a:spcPct val="0"/>
              </a:spcBef>
            </a:pPr>
            <a:r>
              <a:rPr lang="en-US" b="true" sz="9600">
                <a:solidFill>
                  <a:srgbClr val="233457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DAHXWXrxzNA</dc:identifier>
  <dcterms:modified xsi:type="dcterms:W3CDTF">2011-08-01T06:04:30Z</dcterms:modified>
  <cp:revision>1</cp:revision>
  <dc:title>london Airbnb</dc:title>
</cp:coreProperties>
</file>